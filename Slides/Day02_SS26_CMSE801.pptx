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Coming Soon"/>
      <p:regular r:id="rId17"/>
    </p:embeddedFont>
    <p:embeddedFont>
      <p:font typeface="Permanent Marker"/>
      <p:regular r:id="rId18"/>
    </p:embeddedFont>
    <p:embeddedFont>
      <p:font typeface="Average"/>
      <p:regular r:id="rId19"/>
    </p:embeddedFont>
    <p:embeddedFont>
      <p:font typeface="Helvetica Neue"/>
      <p:regular r:id="rId20"/>
      <p:bold r:id="rId21"/>
      <p:italic r:id="rId22"/>
      <p:boldItalic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22" Type="http://schemas.openxmlformats.org/officeDocument/2006/relationships/font" Target="fonts/HelveticaNeue-italic.fntdata"/><Relationship Id="rId21" Type="http://schemas.openxmlformats.org/officeDocument/2006/relationships/font" Target="fonts/HelveticaNeue-bold.fntdata"/><Relationship Id="rId24" Type="http://schemas.openxmlformats.org/officeDocument/2006/relationships/font" Target="fonts/Oswald-regular.fntdata"/><Relationship Id="rId23" Type="http://schemas.openxmlformats.org/officeDocument/2006/relationships/font" Target="fonts/HelveticaNeue-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omingSoon-regular.fntdata"/><Relationship Id="rId16" Type="http://schemas.openxmlformats.org/officeDocument/2006/relationships/slide" Target="slides/slide11.xml"/><Relationship Id="rId19" Type="http://schemas.openxmlformats.org/officeDocument/2006/relationships/font" Target="fonts/Average-regular.fntdata"/><Relationship Id="rId18" Type="http://schemas.openxmlformats.org/officeDocument/2006/relationships/font" Target="fonts/PermanentMark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d98a9f96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d98a9f96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409e7266b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409e7266b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d30bcec16b_0_12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1d30bcec16b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d42b38405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d42b38405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409e7266b1_0_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2409e7266b1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409e7266b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409e7266b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d30bcec16b_0_13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these assumptions we can compute that the number of piano tunings in a single year in Chicago is: (5,000,000 persons in Chicago) / (2 persons/household) × (1 piano/20 households) × (1 piano tuning per piano per year) = 125,000 piano tunings per year in Chicago. And we can similarly calculate that the average piano tuner performs: (50 weeks/year)×(5 days/week)×(8 hours/day)×(1 piano tuning per 2 hours per piano tuner) = 1000 piano tunings per year per piano tuner. Dividing gives: (125,000 piano tuning per year in Chicago) / (1000 piano tunings per year per piano tuner) = 125 piano tuners in Chicago.</a:t>
            </a:r>
            <a:endParaRPr/>
          </a:p>
        </p:txBody>
      </p:sp>
      <p:sp>
        <p:nvSpPr>
          <p:cNvPr id="113" name="Google Shape;113;g1d30bcec16b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d30bcec16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d30bcec16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d30bcec16b_0_11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1d30bcec16b_0_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409e7266b1_0_5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2409e7266b1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ad98a9f96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ad98a9f96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_1">
    <p:spTree>
      <p:nvGrpSpPr>
        <p:cNvPr id="55" name="Shape 55"/>
        <p:cNvGrpSpPr/>
        <p:nvPr/>
      </p:nvGrpSpPr>
      <p:grpSpPr>
        <a:xfrm>
          <a:off x="0" y="0"/>
          <a:ext cx="0" cy="0"/>
          <a:chOff x="0" y="0"/>
          <a:chExt cx="0" cy="0"/>
        </a:xfrm>
      </p:grpSpPr>
      <p:sp>
        <p:nvSpPr>
          <p:cNvPr id="56" name="Google Shape;56;p13"/>
          <p:cNvSpPr txBox="1"/>
          <p:nvPr>
            <p:ph type="title"/>
          </p:nvPr>
        </p:nvSpPr>
        <p:spPr>
          <a:xfrm>
            <a:off x="892969" y="1011287"/>
            <a:ext cx="7358100" cy="1473300"/>
          </a:xfrm>
          <a:prstGeom prst="rect">
            <a:avLst/>
          </a:prstGeom>
          <a:noFill/>
          <a:ln>
            <a:noFill/>
          </a:ln>
        </p:spPr>
        <p:txBody>
          <a:bodyPr anchorCtr="0" anchor="b" bIns="32750" lIns="32750" spcFirstLastPara="1" rIns="32750" wrap="square" tIns="32750">
            <a:normAutofit/>
          </a:bodyPr>
          <a:lstStyle>
            <a:lvl1pPr lvl="0" rtl="0" algn="ctr">
              <a:lnSpc>
                <a:spcPct val="100000"/>
              </a:lnSpc>
              <a:spcBef>
                <a:spcPts val="0"/>
              </a:spcBef>
              <a:spcAft>
                <a:spcPts val="0"/>
              </a:spcAft>
              <a:buClr>
                <a:srgbClr val="114137"/>
              </a:buClr>
              <a:buSzPts val="6100"/>
              <a:buFont typeface="Permanent Marker"/>
              <a:buNone/>
              <a:defRPr sz="6100">
                <a:solidFill>
                  <a:srgbClr val="114137"/>
                </a:solidFill>
              </a:defRPr>
            </a:lvl1pPr>
            <a:lvl2pPr lvl="1" rtl="0" algn="ctr">
              <a:lnSpc>
                <a:spcPct val="100000"/>
              </a:lnSpc>
              <a:spcBef>
                <a:spcPts val="0"/>
              </a:spcBef>
              <a:spcAft>
                <a:spcPts val="0"/>
              </a:spcAft>
              <a:buClr>
                <a:srgbClr val="45A7DE"/>
              </a:buClr>
              <a:buSzPts val="1200"/>
              <a:buNone/>
              <a:defRPr/>
            </a:lvl2pPr>
            <a:lvl3pPr lvl="2" rtl="0" algn="ctr">
              <a:lnSpc>
                <a:spcPct val="100000"/>
              </a:lnSpc>
              <a:spcBef>
                <a:spcPts val="0"/>
              </a:spcBef>
              <a:spcAft>
                <a:spcPts val="0"/>
              </a:spcAft>
              <a:buClr>
                <a:srgbClr val="45A7DE"/>
              </a:buClr>
              <a:buSzPts val="1200"/>
              <a:buNone/>
              <a:defRPr/>
            </a:lvl3pPr>
            <a:lvl4pPr lvl="3" rtl="0" algn="ctr">
              <a:lnSpc>
                <a:spcPct val="100000"/>
              </a:lnSpc>
              <a:spcBef>
                <a:spcPts val="0"/>
              </a:spcBef>
              <a:spcAft>
                <a:spcPts val="0"/>
              </a:spcAft>
              <a:buClr>
                <a:srgbClr val="45A7DE"/>
              </a:buClr>
              <a:buSzPts val="1200"/>
              <a:buNone/>
              <a:defRPr/>
            </a:lvl4pPr>
            <a:lvl5pPr lvl="4" rtl="0" algn="ctr">
              <a:lnSpc>
                <a:spcPct val="100000"/>
              </a:lnSpc>
              <a:spcBef>
                <a:spcPts val="0"/>
              </a:spcBef>
              <a:spcAft>
                <a:spcPts val="0"/>
              </a:spcAft>
              <a:buClr>
                <a:srgbClr val="45A7DE"/>
              </a:buClr>
              <a:buSzPts val="1200"/>
              <a:buNone/>
              <a:defRPr/>
            </a:lvl5pPr>
            <a:lvl6pPr lvl="5" rtl="0" algn="ctr">
              <a:lnSpc>
                <a:spcPct val="100000"/>
              </a:lnSpc>
              <a:spcBef>
                <a:spcPts val="0"/>
              </a:spcBef>
              <a:spcAft>
                <a:spcPts val="0"/>
              </a:spcAft>
              <a:buClr>
                <a:srgbClr val="45A7DE"/>
              </a:buClr>
              <a:buSzPts val="1200"/>
              <a:buNone/>
              <a:defRPr/>
            </a:lvl6pPr>
            <a:lvl7pPr lvl="6" rtl="0" algn="ctr">
              <a:lnSpc>
                <a:spcPct val="100000"/>
              </a:lnSpc>
              <a:spcBef>
                <a:spcPts val="0"/>
              </a:spcBef>
              <a:spcAft>
                <a:spcPts val="0"/>
              </a:spcAft>
              <a:buClr>
                <a:srgbClr val="45A7DE"/>
              </a:buClr>
              <a:buSzPts val="1200"/>
              <a:buNone/>
              <a:defRPr/>
            </a:lvl7pPr>
            <a:lvl8pPr lvl="7" rtl="0" algn="ctr">
              <a:lnSpc>
                <a:spcPct val="100000"/>
              </a:lnSpc>
              <a:spcBef>
                <a:spcPts val="0"/>
              </a:spcBef>
              <a:spcAft>
                <a:spcPts val="0"/>
              </a:spcAft>
              <a:buClr>
                <a:srgbClr val="45A7DE"/>
              </a:buClr>
              <a:buSzPts val="1200"/>
              <a:buNone/>
              <a:defRPr/>
            </a:lvl8pPr>
            <a:lvl9pPr lvl="8" rtl="0" algn="ctr">
              <a:lnSpc>
                <a:spcPct val="100000"/>
              </a:lnSpc>
              <a:spcBef>
                <a:spcPts val="0"/>
              </a:spcBef>
              <a:spcAft>
                <a:spcPts val="0"/>
              </a:spcAft>
              <a:buClr>
                <a:srgbClr val="45A7DE"/>
              </a:buClr>
              <a:buSzPts val="1200"/>
              <a:buNone/>
              <a:defRPr/>
            </a:lvl9pPr>
          </a:lstStyle>
          <a:p/>
        </p:txBody>
      </p:sp>
      <p:sp>
        <p:nvSpPr>
          <p:cNvPr id="57" name="Google Shape;57;p13"/>
          <p:cNvSpPr txBox="1"/>
          <p:nvPr>
            <p:ph idx="1" type="body"/>
          </p:nvPr>
        </p:nvSpPr>
        <p:spPr>
          <a:xfrm>
            <a:off x="892969" y="2645420"/>
            <a:ext cx="7358100" cy="669600"/>
          </a:xfrm>
          <a:prstGeom prst="rect">
            <a:avLst/>
          </a:prstGeom>
          <a:noFill/>
          <a:ln>
            <a:noFill/>
          </a:ln>
        </p:spPr>
        <p:txBody>
          <a:bodyPr anchorCtr="0" anchor="t" bIns="32750" lIns="32750" spcFirstLastPara="1" rIns="32750" wrap="square" tIns="32750">
            <a:normAutofit/>
          </a:bodyPr>
          <a:lstStyle>
            <a:lvl1pPr indent="-228600" lvl="0" marL="457200" rtl="0" algn="ctr">
              <a:lnSpc>
                <a:spcPct val="100000"/>
              </a:lnSpc>
              <a:spcBef>
                <a:spcPts val="0"/>
              </a:spcBef>
              <a:spcAft>
                <a:spcPts val="0"/>
              </a:spcAft>
              <a:buClr>
                <a:srgbClr val="5E5E5E"/>
              </a:buClr>
              <a:buSzPts val="2600"/>
              <a:buFont typeface="Permanent Marker"/>
              <a:buNone/>
              <a:defRPr sz="2600">
                <a:solidFill>
                  <a:srgbClr val="5E5E5E"/>
                </a:solidFill>
              </a:defRPr>
            </a:lvl1pPr>
            <a:lvl2pPr indent="-228600" lvl="1" marL="914400" rtl="0" algn="ctr">
              <a:lnSpc>
                <a:spcPct val="100000"/>
              </a:lnSpc>
              <a:spcBef>
                <a:spcPts val="0"/>
              </a:spcBef>
              <a:spcAft>
                <a:spcPts val="0"/>
              </a:spcAft>
              <a:buClr>
                <a:srgbClr val="5E5E5E"/>
              </a:buClr>
              <a:buSzPts val="2600"/>
              <a:buFont typeface="Permanent Marker"/>
              <a:buNone/>
              <a:defRPr sz="2600">
                <a:solidFill>
                  <a:srgbClr val="5E5E5E"/>
                </a:solidFill>
              </a:defRPr>
            </a:lvl2pPr>
            <a:lvl3pPr indent="-228600" lvl="2" marL="1371600" rtl="0" algn="ctr">
              <a:lnSpc>
                <a:spcPct val="100000"/>
              </a:lnSpc>
              <a:spcBef>
                <a:spcPts val="0"/>
              </a:spcBef>
              <a:spcAft>
                <a:spcPts val="0"/>
              </a:spcAft>
              <a:buClr>
                <a:srgbClr val="5E5E5E"/>
              </a:buClr>
              <a:buSzPts val="2600"/>
              <a:buFont typeface="Permanent Marker"/>
              <a:buNone/>
              <a:defRPr sz="2600">
                <a:solidFill>
                  <a:srgbClr val="5E5E5E"/>
                </a:solidFill>
              </a:defRPr>
            </a:lvl3pPr>
            <a:lvl4pPr indent="-228600" lvl="3" marL="1828800" rtl="0" algn="ctr">
              <a:lnSpc>
                <a:spcPct val="100000"/>
              </a:lnSpc>
              <a:spcBef>
                <a:spcPts val="0"/>
              </a:spcBef>
              <a:spcAft>
                <a:spcPts val="0"/>
              </a:spcAft>
              <a:buClr>
                <a:srgbClr val="5E5E5E"/>
              </a:buClr>
              <a:buSzPts val="2600"/>
              <a:buFont typeface="Permanent Marker"/>
              <a:buNone/>
              <a:defRPr sz="2600">
                <a:solidFill>
                  <a:srgbClr val="5E5E5E"/>
                </a:solidFill>
              </a:defRPr>
            </a:lvl4pPr>
            <a:lvl5pPr indent="-228600" lvl="4" marL="2286000" rtl="0" algn="ctr">
              <a:lnSpc>
                <a:spcPct val="100000"/>
              </a:lnSpc>
              <a:spcBef>
                <a:spcPts val="0"/>
              </a:spcBef>
              <a:spcAft>
                <a:spcPts val="0"/>
              </a:spcAft>
              <a:buClr>
                <a:srgbClr val="5E5E5E"/>
              </a:buClr>
              <a:buSzPts val="2600"/>
              <a:buFont typeface="Permanent Marker"/>
              <a:buNone/>
              <a:defRPr sz="2600">
                <a:solidFill>
                  <a:srgbClr val="5E5E5E"/>
                </a:solidFill>
              </a:defRPr>
            </a:lvl5pPr>
            <a:lvl6pPr indent="-260350" lvl="5" marL="2743200" rtl="0" algn="l">
              <a:lnSpc>
                <a:spcPct val="100000"/>
              </a:lnSpc>
              <a:spcBef>
                <a:spcPts val="2700"/>
              </a:spcBef>
              <a:spcAft>
                <a:spcPts val="0"/>
              </a:spcAft>
              <a:buClr>
                <a:srgbClr val="858585"/>
              </a:buClr>
              <a:buSzPts val="500"/>
              <a:buChar char="■"/>
              <a:defRPr/>
            </a:lvl6pPr>
            <a:lvl7pPr indent="-260350" lvl="6" marL="3200400" rtl="0" algn="l">
              <a:lnSpc>
                <a:spcPct val="100000"/>
              </a:lnSpc>
              <a:spcBef>
                <a:spcPts val="2700"/>
              </a:spcBef>
              <a:spcAft>
                <a:spcPts val="0"/>
              </a:spcAft>
              <a:buClr>
                <a:srgbClr val="858585"/>
              </a:buClr>
              <a:buSzPts val="500"/>
              <a:buChar char="●"/>
              <a:defRPr/>
            </a:lvl7pPr>
            <a:lvl8pPr indent="-260350" lvl="7" marL="3657600" rtl="0" algn="l">
              <a:lnSpc>
                <a:spcPct val="100000"/>
              </a:lnSpc>
              <a:spcBef>
                <a:spcPts val="2700"/>
              </a:spcBef>
              <a:spcAft>
                <a:spcPts val="0"/>
              </a:spcAft>
              <a:buClr>
                <a:srgbClr val="858585"/>
              </a:buClr>
              <a:buSzPts val="500"/>
              <a:buChar char="○"/>
              <a:defRPr/>
            </a:lvl8pPr>
            <a:lvl9pPr indent="-260350" lvl="8" marL="4114800" rtl="0" algn="l">
              <a:lnSpc>
                <a:spcPct val="100000"/>
              </a:lnSpc>
              <a:spcBef>
                <a:spcPts val="2700"/>
              </a:spcBef>
              <a:spcAft>
                <a:spcPts val="0"/>
              </a:spcAft>
              <a:buClr>
                <a:srgbClr val="858585"/>
              </a:buClr>
              <a:buSzPts val="500"/>
              <a:buChar char="■"/>
              <a:defRPr/>
            </a:lvl9pPr>
          </a:lstStyle>
          <a:p/>
        </p:txBody>
      </p:sp>
      <p:pic>
        <p:nvPicPr>
          <p:cNvPr descr="Image" id="58" name="Google Shape;58;p13"/>
          <p:cNvPicPr preferRelativeResize="0"/>
          <p:nvPr/>
        </p:nvPicPr>
        <p:blipFill rotWithShape="1">
          <a:blip r:embed="rId2">
            <a:alphaModFix/>
          </a:blip>
          <a:srcRect b="0" l="0" r="0" t="0"/>
          <a:stretch/>
        </p:blipFill>
        <p:spPr>
          <a:xfrm>
            <a:off x="29747" y="4957039"/>
            <a:ext cx="1467490" cy="167432"/>
          </a:xfrm>
          <a:prstGeom prst="rect">
            <a:avLst/>
          </a:prstGeom>
          <a:noFill/>
          <a:ln>
            <a:noFill/>
          </a:ln>
        </p:spPr>
      </p:pic>
      <p:pic>
        <p:nvPicPr>
          <p:cNvPr descr="CMSE_horizontal_graphic.pdf" id="59" name="Google Shape;59;p13"/>
          <p:cNvPicPr preferRelativeResize="0"/>
          <p:nvPr/>
        </p:nvPicPr>
        <p:blipFill rotWithShape="1">
          <a:blip r:embed="rId3">
            <a:alphaModFix/>
          </a:blip>
          <a:srcRect b="0" l="0" r="75016" t="0"/>
          <a:stretch/>
        </p:blipFill>
        <p:spPr>
          <a:xfrm>
            <a:off x="7090543" y="4859929"/>
            <a:ext cx="320529" cy="334864"/>
          </a:xfrm>
          <a:prstGeom prst="rect">
            <a:avLst/>
          </a:prstGeom>
          <a:noFill/>
          <a:ln>
            <a:noFill/>
          </a:ln>
        </p:spPr>
      </p:pic>
      <p:sp>
        <p:nvSpPr>
          <p:cNvPr id="60" name="Google Shape;60;p13"/>
          <p:cNvSpPr txBox="1"/>
          <p:nvPr/>
        </p:nvSpPr>
        <p:spPr>
          <a:xfrm>
            <a:off x="7358678" y="4921176"/>
            <a:ext cx="1803300" cy="212400"/>
          </a:xfrm>
          <a:prstGeom prst="rect">
            <a:avLst/>
          </a:prstGeom>
          <a:noFill/>
          <a:ln>
            <a:noFill/>
          </a:ln>
        </p:spPr>
        <p:txBody>
          <a:bodyPr anchorCtr="0" anchor="ctr" bIns="32750" lIns="32750" spcFirstLastPara="1" rIns="32750" wrap="square" tIns="32750">
            <a:noAutofit/>
          </a:bodyPr>
          <a:lstStyle/>
          <a:p>
            <a:pPr indent="0" lvl="0" marL="0" marR="0" rtl="0" algn="ctr">
              <a:lnSpc>
                <a:spcPct val="100000"/>
              </a:lnSpc>
              <a:spcBef>
                <a:spcPts val="0"/>
              </a:spcBef>
              <a:spcAft>
                <a:spcPts val="0"/>
              </a:spcAft>
              <a:buClr>
                <a:srgbClr val="000000"/>
              </a:buClr>
              <a:buSzPts val="600"/>
              <a:buFont typeface="Helvetica Neue"/>
              <a:buNone/>
            </a:pPr>
            <a:r>
              <a:rPr b="1" i="0" lang="en" sz="600" u="none" cap="none" strike="noStrike">
                <a:solidFill>
                  <a:srgbClr val="000000"/>
                </a:solidFill>
                <a:latin typeface="Helvetica Neue"/>
                <a:ea typeface="Helvetica Neue"/>
                <a:cs typeface="Helvetica Neue"/>
                <a:sym typeface="Helvetica Neue"/>
              </a:rPr>
              <a:t>Department of Computational Mathematics, Science and Engineering</a:t>
            </a:r>
            <a:endParaRPr sz="900"/>
          </a:p>
        </p:txBody>
      </p:sp>
      <p:sp>
        <p:nvSpPr>
          <p:cNvPr id="61" name="Google Shape;61;p13"/>
          <p:cNvSpPr txBox="1"/>
          <p:nvPr>
            <p:ph idx="12" type="sldNum"/>
          </p:nvPr>
        </p:nvSpPr>
        <p:spPr>
          <a:xfrm>
            <a:off x="4438056" y="4889004"/>
            <a:ext cx="263700" cy="187500"/>
          </a:xfrm>
          <a:prstGeom prst="rect">
            <a:avLst/>
          </a:prstGeom>
          <a:noFill/>
          <a:ln>
            <a:noFill/>
          </a:ln>
        </p:spPr>
        <p:txBody>
          <a:bodyPr anchorCtr="0" anchor="t" bIns="32750" lIns="32750" spcFirstLastPara="1" rIns="32750" wrap="square" tIns="32750">
            <a:normAutofit fontScale="77500" lnSpcReduction="20000"/>
          </a:bodyPr>
          <a:lstStyle>
            <a:lvl1pPr indent="0" lvl="0" marL="0" rtl="0" algn="ctr">
              <a:lnSpc>
                <a:spcPct val="100000"/>
              </a:lnSpc>
              <a:spcBef>
                <a:spcPts val="0"/>
              </a:spcBef>
              <a:spcAft>
                <a:spcPts val="0"/>
              </a:spcAft>
              <a:buClr>
                <a:srgbClr val="868686"/>
              </a:buClr>
              <a:buSzPts val="1200"/>
              <a:buFont typeface="Permanent Marker"/>
              <a:buNone/>
              <a:defRPr sz="1200">
                <a:solidFill>
                  <a:srgbClr val="868686"/>
                </a:solidFill>
              </a:defRPr>
            </a:lvl1pPr>
            <a:lvl2pPr indent="0" lvl="1" marL="0" rtl="0" algn="ctr">
              <a:lnSpc>
                <a:spcPct val="100000"/>
              </a:lnSpc>
              <a:spcBef>
                <a:spcPts val="0"/>
              </a:spcBef>
              <a:spcAft>
                <a:spcPts val="0"/>
              </a:spcAft>
              <a:buClr>
                <a:srgbClr val="868686"/>
              </a:buClr>
              <a:buSzPts val="1200"/>
              <a:buFont typeface="Permanent Marker"/>
              <a:buNone/>
              <a:defRPr sz="1200">
                <a:solidFill>
                  <a:srgbClr val="868686"/>
                </a:solidFill>
              </a:defRPr>
            </a:lvl2pPr>
            <a:lvl3pPr indent="0" lvl="2" marL="0" rtl="0" algn="ctr">
              <a:lnSpc>
                <a:spcPct val="100000"/>
              </a:lnSpc>
              <a:spcBef>
                <a:spcPts val="0"/>
              </a:spcBef>
              <a:spcAft>
                <a:spcPts val="0"/>
              </a:spcAft>
              <a:buClr>
                <a:srgbClr val="868686"/>
              </a:buClr>
              <a:buSzPts val="1200"/>
              <a:buFont typeface="Permanent Marker"/>
              <a:buNone/>
              <a:defRPr sz="1200">
                <a:solidFill>
                  <a:srgbClr val="868686"/>
                </a:solidFill>
              </a:defRPr>
            </a:lvl3pPr>
            <a:lvl4pPr indent="0" lvl="3" marL="0" rtl="0" algn="ctr">
              <a:lnSpc>
                <a:spcPct val="100000"/>
              </a:lnSpc>
              <a:spcBef>
                <a:spcPts val="0"/>
              </a:spcBef>
              <a:spcAft>
                <a:spcPts val="0"/>
              </a:spcAft>
              <a:buClr>
                <a:srgbClr val="868686"/>
              </a:buClr>
              <a:buSzPts val="1200"/>
              <a:buFont typeface="Permanent Marker"/>
              <a:buNone/>
              <a:defRPr sz="1200">
                <a:solidFill>
                  <a:srgbClr val="868686"/>
                </a:solidFill>
              </a:defRPr>
            </a:lvl4pPr>
            <a:lvl5pPr indent="0" lvl="4" marL="0" rtl="0" algn="ctr">
              <a:lnSpc>
                <a:spcPct val="100000"/>
              </a:lnSpc>
              <a:spcBef>
                <a:spcPts val="0"/>
              </a:spcBef>
              <a:spcAft>
                <a:spcPts val="0"/>
              </a:spcAft>
              <a:buClr>
                <a:srgbClr val="868686"/>
              </a:buClr>
              <a:buSzPts val="1200"/>
              <a:buFont typeface="Permanent Marker"/>
              <a:buNone/>
              <a:defRPr sz="1200">
                <a:solidFill>
                  <a:srgbClr val="868686"/>
                </a:solidFill>
              </a:defRPr>
            </a:lvl5pPr>
            <a:lvl6pPr indent="0" lvl="5" marL="0" rtl="0" algn="ctr">
              <a:lnSpc>
                <a:spcPct val="100000"/>
              </a:lnSpc>
              <a:spcBef>
                <a:spcPts val="0"/>
              </a:spcBef>
              <a:spcAft>
                <a:spcPts val="0"/>
              </a:spcAft>
              <a:buClr>
                <a:srgbClr val="868686"/>
              </a:buClr>
              <a:buSzPts val="1200"/>
              <a:buFont typeface="Permanent Marker"/>
              <a:buNone/>
              <a:defRPr sz="1200">
                <a:solidFill>
                  <a:srgbClr val="868686"/>
                </a:solidFill>
              </a:defRPr>
            </a:lvl6pPr>
            <a:lvl7pPr indent="0" lvl="6" marL="0" rtl="0" algn="ctr">
              <a:lnSpc>
                <a:spcPct val="100000"/>
              </a:lnSpc>
              <a:spcBef>
                <a:spcPts val="0"/>
              </a:spcBef>
              <a:spcAft>
                <a:spcPts val="0"/>
              </a:spcAft>
              <a:buClr>
                <a:srgbClr val="868686"/>
              </a:buClr>
              <a:buSzPts val="1200"/>
              <a:buFont typeface="Permanent Marker"/>
              <a:buNone/>
              <a:defRPr sz="1200">
                <a:solidFill>
                  <a:srgbClr val="868686"/>
                </a:solidFill>
              </a:defRPr>
            </a:lvl7pPr>
            <a:lvl8pPr indent="0" lvl="7" marL="0" rtl="0" algn="ctr">
              <a:lnSpc>
                <a:spcPct val="100000"/>
              </a:lnSpc>
              <a:spcBef>
                <a:spcPts val="0"/>
              </a:spcBef>
              <a:spcAft>
                <a:spcPts val="0"/>
              </a:spcAft>
              <a:buClr>
                <a:srgbClr val="868686"/>
              </a:buClr>
              <a:buSzPts val="1200"/>
              <a:buFont typeface="Permanent Marker"/>
              <a:buNone/>
              <a:defRPr sz="1200">
                <a:solidFill>
                  <a:srgbClr val="868686"/>
                </a:solidFill>
              </a:defRPr>
            </a:lvl8pPr>
            <a:lvl9pPr indent="0" lvl="8" marL="0" rtl="0" algn="ctr">
              <a:lnSpc>
                <a:spcPct val="100000"/>
              </a:lnSpc>
              <a:spcBef>
                <a:spcPts val="0"/>
              </a:spcBef>
              <a:spcAft>
                <a:spcPts val="0"/>
              </a:spcAft>
              <a:buClr>
                <a:srgbClr val="868686"/>
              </a:buClr>
              <a:buSzPts val="1200"/>
              <a:buFont typeface="Permanent Marker"/>
              <a:buNone/>
              <a:defRPr sz="1200">
                <a:solidFill>
                  <a:srgbClr val="868686"/>
                </a:solidFill>
              </a:defRPr>
            </a:lvl9pPr>
          </a:lstStyle>
          <a:p>
            <a:pPr indent="0" lvl="0" marL="0" rtl="0" algn="ctr">
              <a:spcBef>
                <a:spcPts val="0"/>
              </a:spcBef>
              <a:spcAft>
                <a:spcPts val="0"/>
              </a:spcAft>
              <a:buNone/>
            </a:pPr>
            <a:fld id="{00000000-1234-1234-1234-123412341234}" type="slidenum">
              <a:rPr lang="en"/>
              <a:t>‹#›</a:t>
            </a:fld>
            <a:endParaRPr sz="1000">
              <a:solidFill>
                <a:schemeClr val="accent3"/>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hyperlink" Target="https://en.wikipedia.org/wiki/Drake_equ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en.wikipedia.org/wiki/Fermi_paradox" TargetMode="External"/><Relationship Id="rId4" Type="http://schemas.openxmlformats.org/officeDocument/2006/relationships/hyperlink" Target="http://www.youtube.com/watch?v=sNhhvQGsMEc" TargetMode="External"/><Relationship Id="rId5" Type="http://schemas.openxmlformats.org/officeDocument/2006/relationships/image" Target="../media/image4.jp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Getting Started with Python</a:t>
            </a:r>
            <a:endParaRPr/>
          </a:p>
        </p:txBody>
      </p:sp>
      <p:sp>
        <p:nvSpPr>
          <p:cNvPr id="67" name="Google Shape;67;p14"/>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Day 02 - CMSE 801</a:t>
            </a:r>
            <a:endParaRPr/>
          </a:p>
          <a:p>
            <a:pPr indent="0" lvl="0" marL="0" rtl="0" algn="ctr">
              <a:spcBef>
                <a:spcPts val="0"/>
              </a:spcBef>
              <a:spcAft>
                <a:spcPts val="0"/>
              </a:spcAft>
              <a:buNone/>
            </a:pPr>
            <a:r>
              <a:rPr lang="en"/>
              <a:t>Prof. Mengsen Zhang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Pre-class Challenges &amp; Questions</a:t>
            </a:r>
            <a:endParaRPr/>
          </a:p>
        </p:txBody>
      </p:sp>
      <p:sp>
        <p:nvSpPr>
          <p:cNvPr id="73" name="Google Shape;73;p15"/>
          <p:cNvSpPr txBox="1"/>
          <p:nvPr>
            <p:ph idx="1" type="body"/>
          </p:nvPr>
        </p:nvSpPr>
        <p:spPr>
          <a:xfrm>
            <a:off x="311700" y="837650"/>
            <a:ext cx="8520600" cy="3807300"/>
          </a:xfrm>
          <a:prstGeom prst="rect">
            <a:avLst/>
          </a:prstGeom>
          <a:noFill/>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Finding the time and will power to do it. </a:t>
            </a:r>
            <a:endParaRPr sz="1600">
              <a:solidFill>
                <a:schemeClr val="dk1"/>
              </a:solidFill>
              <a:latin typeface="Arial"/>
              <a:ea typeface="Arial"/>
              <a:cs typeface="Arial"/>
              <a:sym typeface="Arial"/>
            </a:endParaRPr>
          </a:p>
          <a:p>
            <a:pPr indent="-330200" lvl="1" marL="9144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Build a routine?</a:t>
            </a:r>
            <a:endParaRPr sz="1600">
              <a:solidFill>
                <a:schemeClr val="dk1"/>
              </a:solidFill>
              <a:latin typeface="Arial"/>
              <a:ea typeface="Arial"/>
              <a:cs typeface="Arial"/>
              <a:sym typeface="Arial"/>
            </a:endParaRPr>
          </a:p>
          <a:p>
            <a:pPr indent="-330200" lvl="0" marL="4572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Getting survey to work</a:t>
            </a:r>
            <a:endParaRPr sz="1600">
              <a:solidFill>
                <a:schemeClr val="dk1"/>
              </a:solidFill>
              <a:latin typeface="Arial"/>
              <a:ea typeface="Arial"/>
              <a:cs typeface="Arial"/>
              <a:sym typeface="Arial"/>
            </a:endParaRPr>
          </a:p>
          <a:p>
            <a:pPr indent="-330200" lvl="1" marL="9144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Can copy link to browser – same link for pre-class</a:t>
            </a:r>
            <a:endParaRPr sz="1600">
              <a:solidFill>
                <a:schemeClr val="dk1"/>
              </a:solidFill>
              <a:latin typeface="Arial"/>
              <a:ea typeface="Arial"/>
              <a:cs typeface="Arial"/>
              <a:sym typeface="Arial"/>
            </a:endParaRPr>
          </a:p>
          <a:p>
            <a:pPr indent="-330200" lvl="0" marL="4572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Memorizing syntax</a:t>
            </a:r>
            <a:endParaRPr sz="1600">
              <a:solidFill>
                <a:schemeClr val="dk1"/>
              </a:solidFill>
              <a:latin typeface="Arial"/>
              <a:ea typeface="Arial"/>
              <a:cs typeface="Arial"/>
              <a:sym typeface="Arial"/>
            </a:endParaRPr>
          </a:p>
          <a:p>
            <a:pPr indent="-330200" lvl="1" marL="9144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You just be able to quickly find it, use it more often like it’s a sport</a:t>
            </a:r>
            <a:endParaRPr sz="1600">
              <a:solidFill>
                <a:schemeClr val="dk1"/>
              </a:solidFill>
              <a:latin typeface="Arial"/>
              <a:ea typeface="Arial"/>
              <a:cs typeface="Arial"/>
              <a:sym typeface="Arial"/>
            </a:endParaRPr>
          </a:p>
          <a:p>
            <a:pPr indent="-330200" lvl="0" marL="4572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Order of magnitude approximation (more next)</a:t>
            </a:r>
            <a:endParaRPr sz="1600">
              <a:solidFill>
                <a:schemeClr val="dk1"/>
              </a:solidFill>
              <a:latin typeface="Arial"/>
              <a:ea typeface="Arial"/>
              <a:cs typeface="Arial"/>
              <a:sym typeface="Arial"/>
            </a:endParaRPr>
          </a:p>
          <a:p>
            <a:pPr indent="-330200" lvl="0" marL="457200" rtl="0" algn="l">
              <a:spcBef>
                <a:spcPts val="0"/>
              </a:spcBef>
              <a:spcAft>
                <a:spcPts val="0"/>
              </a:spcAft>
              <a:buClr>
                <a:schemeClr val="dk1"/>
              </a:buClr>
              <a:buSzPts val="1600"/>
              <a:buFont typeface="Arial"/>
              <a:buChar char="-"/>
            </a:pPr>
            <a:r>
              <a:rPr lang="en" sz="1600">
                <a:solidFill>
                  <a:schemeClr val="dk1"/>
                </a:solidFill>
                <a:latin typeface="Arial"/>
                <a:ea typeface="Arial"/>
                <a:cs typeface="Arial"/>
                <a:sym typeface="Arial"/>
              </a:rPr>
              <a:t>Variables and data types (more next)</a:t>
            </a:r>
            <a:endParaRPr sz="1600">
              <a:solidFill>
                <a:schemeClr val="dk1"/>
              </a:solidFill>
              <a:latin typeface="Arial"/>
              <a:ea typeface="Arial"/>
              <a:cs typeface="Arial"/>
              <a:sym typeface="Arial"/>
            </a:endParaRPr>
          </a:p>
        </p:txBody>
      </p:sp>
      <p:sp>
        <p:nvSpPr>
          <p:cNvPr id="74" name="Google Shape;74;p1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892950" y="76225"/>
            <a:ext cx="7358100" cy="800400"/>
          </a:xfrm>
          <a:prstGeom prst="rect">
            <a:avLst/>
          </a:prstGeom>
          <a:noFill/>
          <a:ln>
            <a:noFill/>
          </a:ln>
        </p:spPr>
        <p:txBody>
          <a:bodyPr anchorCtr="0" anchor="ctr" bIns="32750" lIns="32750" spcFirstLastPara="1" rIns="32750" wrap="square" tIns="32750">
            <a:normAutofit/>
          </a:bodyPr>
          <a:lstStyle/>
          <a:p>
            <a:pPr indent="0" lvl="0" marL="0" rtl="0" algn="ctr">
              <a:lnSpc>
                <a:spcPct val="100000"/>
              </a:lnSpc>
              <a:spcBef>
                <a:spcPts val="0"/>
              </a:spcBef>
              <a:spcAft>
                <a:spcPts val="0"/>
              </a:spcAft>
              <a:buClr>
                <a:srgbClr val="2D544A"/>
              </a:buClr>
              <a:buSzPts val="4600"/>
              <a:buFont typeface="Permanent Marker"/>
              <a:buNone/>
            </a:pPr>
            <a:r>
              <a:rPr lang="en" sz="4000"/>
              <a:t>Fermi Problems/Estimates</a:t>
            </a:r>
            <a:endParaRPr sz="4000"/>
          </a:p>
        </p:txBody>
      </p:sp>
      <p:sp>
        <p:nvSpPr>
          <p:cNvPr id="80" name="Google Shape;80;p16"/>
          <p:cNvSpPr txBox="1"/>
          <p:nvPr>
            <p:ph idx="12" type="sldNum"/>
          </p:nvPr>
        </p:nvSpPr>
        <p:spPr>
          <a:xfrm>
            <a:off x="4419204" y="4889000"/>
            <a:ext cx="236700" cy="187500"/>
          </a:xfrm>
          <a:prstGeom prst="rect">
            <a:avLst/>
          </a:prstGeom>
          <a:noFill/>
          <a:ln>
            <a:noFill/>
          </a:ln>
        </p:spPr>
        <p:txBody>
          <a:bodyPr anchorCtr="0" anchor="t" bIns="32750" lIns="32750" spcFirstLastPara="1" rIns="32750" wrap="square" tIns="32750">
            <a:normAutofit lnSpcReduction="20000"/>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81" name="Google Shape;81;p16"/>
          <p:cNvPicPr preferRelativeResize="0"/>
          <p:nvPr/>
        </p:nvPicPr>
        <p:blipFill>
          <a:blip r:embed="rId3">
            <a:alphaModFix/>
          </a:blip>
          <a:stretch>
            <a:fillRect/>
          </a:stretch>
        </p:blipFill>
        <p:spPr>
          <a:xfrm>
            <a:off x="4810400" y="1461925"/>
            <a:ext cx="4167808" cy="3164450"/>
          </a:xfrm>
          <a:prstGeom prst="rect">
            <a:avLst/>
          </a:prstGeom>
          <a:noFill/>
          <a:ln>
            <a:noFill/>
          </a:ln>
        </p:spPr>
      </p:pic>
      <p:sp>
        <p:nvSpPr>
          <p:cNvPr id="82" name="Google Shape;82;p16"/>
          <p:cNvSpPr txBox="1"/>
          <p:nvPr/>
        </p:nvSpPr>
        <p:spPr>
          <a:xfrm>
            <a:off x="278175" y="824125"/>
            <a:ext cx="8518200" cy="55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verage"/>
                <a:ea typeface="Average"/>
                <a:cs typeface="Average"/>
                <a:sym typeface="Average"/>
              </a:rPr>
              <a:t>Enrico Fermi</a:t>
            </a:r>
            <a:r>
              <a:rPr lang="en">
                <a:solidFill>
                  <a:schemeClr val="dk1"/>
                </a:solidFill>
                <a:latin typeface="Average"/>
                <a:ea typeface="Average"/>
                <a:cs typeface="Average"/>
                <a:sym typeface="Average"/>
              </a:rPr>
              <a:t> was an Italian physicist who lived from 1901-1954</a:t>
            </a:r>
            <a:r>
              <a:rPr lang="en">
                <a:solidFill>
                  <a:schemeClr val="dk1"/>
                </a:solidFill>
                <a:latin typeface="Average"/>
                <a:ea typeface="Average"/>
                <a:cs typeface="Average"/>
                <a:sym typeface="Average"/>
              </a:rPr>
              <a:t>, worked on the Manhattan project and won the Nobel Prize in Physics. </a:t>
            </a:r>
            <a:endParaRPr>
              <a:solidFill>
                <a:schemeClr val="dk1"/>
              </a:solidFill>
              <a:latin typeface="Average"/>
              <a:ea typeface="Average"/>
              <a:cs typeface="Average"/>
              <a:sym typeface="Average"/>
            </a:endParaRPr>
          </a:p>
        </p:txBody>
      </p:sp>
      <p:pic>
        <p:nvPicPr>
          <p:cNvPr id="83" name="Google Shape;83;p16"/>
          <p:cNvPicPr preferRelativeResize="0"/>
          <p:nvPr/>
        </p:nvPicPr>
        <p:blipFill>
          <a:blip r:embed="rId4">
            <a:alphaModFix/>
          </a:blip>
          <a:stretch>
            <a:fillRect/>
          </a:stretch>
        </p:blipFill>
        <p:spPr>
          <a:xfrm>
            <a:off x="278176" y="1461925"/>
            <a:ext cx="4127523" cy="3164450"/>
          </a:xfrm>
          <a:prstGeom prst="rect">
            <a:avLst/>
          </a:prstGeom>
          <a:noFill/>
          <a:ln>
            <a:noFill/>
          </a:ln>
        </p:spPr>
      </p:pic>
      <p:pic>
        <p:nvPicPr>
          <p:cNvPr id="84" name="Google Shape;84;p16"/>
          <p:cNvPicPr preferRelativeResize="0"/>
          <p:nvPr/>
        </p:nvPicPr>
        <p:blipFill>
          <a:blip r:embed="rId5">
            <a:alphaModFix/>
          </a:blip>
          <a:stretch>
            <a:fillRect/>
          </a:stretch>
        </p:blipFill>
        <p:spPr>
          <a:xfrm>
            <a:off x="8033400" y="1461924"/>
            <a:ext cx="944800" cy="14017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Fermi Problem</a:t>
            </a:r>
            <a:endParaRPr/>
          </a:p>
        </p:txBody>
      </p:sp>
      <p:sp>
        <p:nvSpPr>
          <p:cNvPr id="90" name="Google Shape;9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Modeling example</a:t>
            </a:r>
            <a:br>
              <a:rPr lang="en"/>
            </a:br>
            <a:endParaRPr/>
          </a:p>
          <a:p>
            <a:pPr indent="-342900" lvl="0" marL="457200" rtl="0" algn="l">
              <a:spcBef>
                <a:spcPts val="0"/>
              </a:spcBef>
              <a:spcAft>
                <a:spcPts val="0"/>
              </a:spcAft>
              <a:buSzPts val="1800"/>
              <a:buChar char="●"/>
            </a:pPr>
            <a:r>
              <a:rPr lang="en"/>
              <a:t>Helps you identify the important elements in your model and their interaction/relationships (take it apart and put it back together)</a:t>
            </a:r>
            <a:br>
              <a:rPr lang="en"/>
            </a:br>
            <a:endParaRPr/>
          </a:p>
          <a:p>
            <a:pPr indent="-342900" lvl="0" marL="457200" rtl="0" algn="l">
              <a:spcBef>
                <a:spcPts val="0"/>
              </a:spcBef>
              <a:spcAft>
                <a:spcPts val="0"/>
              </a:spcAft>
              <a:buSzPts val="1800"/>
              <a:buChar char="●"/>
            </a:pPr>
            <a:r>
              <a:rPr lang="en"/>
              <a:t>A</a:t>
            </a:r>
            <a:r>
              <a:rPr lang="en"/>
              <a:t> “good enough” answer </a:t>
            </a:r>
            <a:endParaRPr/>
          </a:p>
        </p:txBody>
      </p:sp>
      <p:sp>
        <p:nvSpPr>
          <p:cNvPr id="91" name="Google Shape;91;p1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892975" y="133948"/>
            <a:ext cx="7358100" cy="621900"/>
          </a:xfrm>
          <a:prstGeom prst="rect">
            <a:avLst/>
          </a:prstGeom>
          <a:noFill/>
          <a:ln>
            <a:noFill/>
          </a:ln>
        </p:spPr>
        <p:txBody>
          <a:bodyPr anchorCtr="0" anchor="ctr" bIns="32750" lIns="32750" spcFirstLastPara="1" rIns="32750" wrap="square" tIns="32750">
            <a:normAutofit/>
          </a:bodyPr>
          <a:lstStyle/>
          <a:p>
            <a:pPr indent="0" lvl="0" marL="0" rtl="0" algn="ctr">
              <a:lnSpc>
                <a:spcPct val="100000"/>
              </a:lnSpc>
              <a:spcBef>
                <a:spcPts val="0"/>
              </a:spcBef>
              <a:spcAft>
                <a:spcPts val="0"/>
              </a:spcAft>
              <a:buClr>
                <a:srgbClr val="2D544A"/>
              </a:buClr>
              <a:buSzPts val="4600"/>
              <a:buFont typeface="Permanent Marker"/>
              <a:buNone/>
            </a:pPr>
            <a:r>
              <a:rPr lang="en" sz="3400"/>
              <a:t>Example: Drake Equation</a:t>
            </a:r>
            <a:endParaRPr sz="3400"/>
          </a:p>
        </p:txBody>
      </p:sp>
      <p:sp>
        <p:nvSpPr>
          <p:cNvPr id="97" name="Google Shape;97;p18"/>
          <p:cNvSpPr txBox="1"/>
          <p:nvPr>
            <p:ph idx="12" type="sldNum"/>
          </p:nvPr>
        </p:nvSpPr>
        <p:spPr>
          <a:xfrm>
            <a:off x="4398230" y="4889000"/>
            <a:ext cx="257700" cy="187500"/>
          </a:xfrm>
          <a:prstGeom prst="rect">
            <a:avLst/>
          </a:prstGeom>
          <a:noFill/>
          <a:ln>
            <a:noFill/>
          </a:ln>
        </p:spPr>
        <p:txBody>
          <a:bodyPr anchorCtr="0" anchor="t" bIns="32750" lIns="32750" spcFirstLastPara="1" rIns="32750" wrap="square" tIns="32750">
            <a:normAutofit lnSpcReduction="20000"/>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98" name="Google Shape;98;p18"/>
          <p:cNvPicPr preferRelativeResize="0"/>
          <p:nvPr/>
        </p:nvPicPr>
        <p:blipFill>
          <a:blip r:embed="rId3">
            <a:alphaModFix/>
          </a:blip>
          <a:stretch>
            <a:fillRect/>
          </a:stretch>
        </p:blipFill>
        <p:spPr>
          <a:xfrm>
            <a:off x="472700" y="908248"/>
            <a:ext cx="8194256" cy="3828357"/>
          </a:xfrm>
          <a:prstGeom prst="rect">
            <a:avLst/>
          </a:prstGeom>
          <a:noFill/>
          <a:ln>
            <a:noFill/>
          </a:ln>
          <a:effectLst>
            <a:outerShdw blurRad="57150" rotWithShape="0" algn="bl" dir="5400000" dist="19050">
              <a:srgbClr val="6AA84F">
                <a:alpha val="50000"/>
              </a:srgbClr>
            </a:outerShdw>
          </a:effectLst>
        </p:spPr>
      </p:pic>
      <p:sp>
        <p:nvSpPr>
          <p:cNvPr id="99" name="Google Shape;99;p18"/>
          <p:cNvSpPr txBox="1"/>
          <p:nvPr/>
        </p:nvSpPr>
        <p:spPr>
          <a:xfrm>
            <a:off x="1769900" y="2268625"/>
            <a:ext cx="5573700" cy="801900"/>
          </a:xfrm>
          <a:prstGeom prst="rect">
            <a:avLst/>
          </a:prstGeom>
          <a:solidFill>
            <a:srgbClr val="CFE2F3"/>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rgbClr val="FF0000"/>
                </a:solidFill>
                <a:latin typeface="Average"/>
                <a:ea typeface="Average"/>
                <a:cs typeface="Average"/>
                <a:sym typeface="Average"/>
              </a:rPr>
              <a:t>N ~ 50 Million!!!</a:t>
            </a:r>
            <a:endParaRPr sz="4600">
              <a:solidFill>
                <a:srgbClr val="FF0000"/>
              </a:solidFill>
              <a:latin typeface="Average"/>
              <a:ea typeface="Average"/>
              <a:cs typeface="Average"/>
              <a:sym typeface="Average"/>
            </a:endParaRPr>
          </a:p>
        </p:txBody>
      </p:sp>
      <p:sp>
        <p:nvSpPr>
          <p:cNvPr id="100" name="Google Shape;100;p18"/>
          <p:cNvSpPr txBox="1"/>
          <p:nvPr/>
        </p:nvSpPr>
        <p:spPr>
          <a:xfrm>
            <a:off x="472700" y="4309250"/>
            <a:ext cx="12297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Coming Soon"/>
                <a:ea typeface="Coming Soon"/>
                <a:cs typeface="Coming Soon"/>
                <a:sym typeface="Coming Soon"/>
                <a:hlinkClick r:id="rId4"/>
              </a:rPr>
              <a:t>Wikipedia</a:t>
            </a:r>
            <a:endParaRPr>
              <a:latin typeface="Coming Soon"/>
              <a:ea typeface="Coming Soon"/>
              <a:cs typeface="Coming Soon"/>
              <a:sym typeface="Coming Soo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is Everyone?</a:t>
            </a:r>
            <a:endParaRPr/>
          </a:p>
        </p:txBody>
      </p:sp>
      <p:sp>
        <p:nvSpPr>
          <p:cNvPr id="106" name="Google Shape;10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07" name="Google Shape;107;p1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
        <p:nvSpPr>
          <p:cNvPr id="108" name="Google Shape;108;p19"/>
          <p:cNvSpPr txBox="1"/>
          <p:nvPr/>
        </p:nvSpPr>
        <p:spPr>
          <a:xfrm>
            <a:off x="5945350" y="4568875"/>
            <a:ext cx="1994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Coming Soon"/>
                <a:ea typeface="Coming Soon"/>
                <a:cs typeface="Coming Soon"/>
                <a:sym typeface="Coming Soon"/>
                <a:hlinkClick r:id="rId3"/>
              </a:rPr>
              <a:t>Wikipedia</a:t>
            </a:r>
            <a:endParaRPr>
              <a:latin typeface="Coming Soon"/>
              <a:ea typeface="Coming Soon"/>
              <a:cs typeface="Coming Soon"/>
              <a:sym typeface="Coming Soon"/>
            </a:endParaRPr>
          </a:p>
        </p:txBody>
      </p:sp>
      <p:pic>
        <p:nvPicPr>
          <p:cNvPr descr="The universe is unbelievably big – trillions of stars and even more planets. Soo… there just has to be life out there, right? But where is it? Why don’t we see any aliens? Where are they? And more importantly, what does this tell us about our own fate in this gigantic and scary universe?&#10;&#10;&#10;OUR CHANNELS&#10;▀▀▀▀▀▀▀▀▀▀▀▀▀▀▀▀▀▀▀▀▀▀▀▀▀▀&#10;German Channel: https://kgs.link/youtubeDE &#10;Spanish Channel: https://kgs.link/youtubeES &#10;&#10;&#10;HOW CAN YOU SUPPORT US?&#10;▀▀▀▀▀▀▀▀▀▀▀▀▀▀▀▀▀▀▀▀▀▀▀▀▀▀&#10;This is how we make our living and it would be a pleasure if you support us!&#10;&#10;Get Merch designed with ❤ from https://kgs.link/shop  &#10;Join the Patreon Bird Army 🐧 https://kgs.link/patreon  &#10;&#10;&#10;DISCUSSIONS &amp; SOCIAL MEDIA&#10;▀▀▀▀▀▀▀▀▀▀▀▀▀▀▀▀▀▀▀▀▀▀▀▀▀▀&#10;Reddit:            https://kgs.link/reddit&#10;Instagram:     https://kgs.link/instagram&#10;Twitter:           https://kgs.link/twitter&#10;Facebook:      https://kgs.link/facebook&#10;Discord:          https://kgs.link/discord&#10;Newsletter:    https://kgs.link/newsletter&#10;&#10;&#10;OUR VOICE&#10;▀▀▀▀▀▀▀▀▀▀▀▀▀▀▀▀▀▀▀▀▀▀▀▀▀▀&#10;The Kurzgesagt voice is from &#10;Steve Taylor:  https://kgs.link/youtube-voice&#10;&#10;&#10;OUR MUSIC ♬♪&#10;▀▀▀▀▀▀▀▀▀▀▀▀▀▀▀▀▀▀▀▀▀▀▀▀▀▀&#10;700+ minutes of Kurzgesagt Soundtracks by Epic Mountain:&#10;&#10;Spotify:            https://kgs.link/music-spotify&#10;Soundcloud:   https://kgs.link/music-soundcloud&#10;Bandcamp:     https://kgs.link/music-bandcamp&#10;Youtube:          https://kgs.link/music-youtube&#10;Facebook:       https://kgs.link/music-facebook&#10;&#10;The Soundtrack of this video:&#10;&#10;https://soundcloud.com/epicmountain/fermi&#10;https://epicmountainmusic.bandcamp.com/track/the-fermi-paradox&#10;http://www.epic-mountain.com&#10;&#10;&#10;Also, for more in depth information take a look at the WAIT BUT WHY article about Fermi Paradox: &#10;http://waitbutwhy.com/2014/05/fermi-paradox.html&#10;&#10;&#10;🐦🐧🐤 PATREON BIRD ARMY 🐤🐧🐦&#10;▀▀▀▀▀▀▀▀▀▀▀▀▀▀▀▀▀▀▀▀▀▀▀▀▀▀&#10;Many Thanks to our wonderful Patreons from http://kgs.link/patreon who support us every month and made this video possible:&#10;&#10;Tony Morley, Ben Nunan, Sam Elitzer, Andrzej Rejman, Matthew Datcher, Stephen Bassett, Raphael Hviding, Jeff Le, Nat Ryall, Nicholas Holtz, Arnas, Francesca Monteiro, Duncan Cheong, Derek, James Craver, Juan Manuel Corredor, Osric Lord-Williams, Broderick, Maarten Bremer, Nat Thomas Golder, Scott Zell, John Green, AgentK, Carly Tawse, Chris Simpson, Ngo Vo Hoang Viet, [ K A I ] = çŸ³ : :, Taylor Hadden, Chris Linardos, tekbit, Kirstie, Richard Reynolds, Jeroen Koerts, Alex Kaplan, Patrick Eyrich, Cody, KokLiang Lim, Okan, Sasha C, Marcelo, Dean Herbert, trefmanic, Adam Smith, Anton Efimenko, Gaëtan Duvaux, Rachel Proctor, Lukas Grossar, Sam Pottinger, Michal, Caroline Andrewes, Tom Alexander Kutil, Justin Bull, Ivin spates, Sebastian Laiseca, Adam Dunlap, Chase, Marius Apalseth, Daniel and Sigrid C, Volodymyr Khomenko, Cerlinfia Chen, Chris Wills, Peter Emelone, Alexandre C, Radek Falhar, Michael Slade, Miranda Willan, Alexander Heavens, Mark Govea, Andrew Knudson, Fluffy19, Adam Primaeros, Aaron, Alexander Ahn, Daniel Jones, Adamliu, Sara Shah, Jan Schmid, Susan Love, Ghitea Andrei Paul, Harry Brisson, Stian Bluth Levik, maarten ligtenberg, Larry Bunyard, Ryan, Ann, Josh Maleszewski, Matthew Russell, Veselin Kostadinov, Dario Wünsch, Eli Fisker, Daniel McCouid-Carr, Dennis van Ruijven, Ryan A. Schauer, Nikki Toss, Pierre Lacasse, Gustavo, Albert Z, Theo Alves Monteiro, Stephen Morris, Tony Montuori, Muath, David Davenport-Firth, Edgar Duarte Ortega, Stephen Chen, Christian Fernandez, Alipasha Sadri, Matthew Sample, Hamad, Mikel De Uranga, Kevin P, Steven Ratner, Eric, Andrew Connor, Bruce low, José, Wesley Sheridan Montgomery, Philipp Weber, Brad Wardell, Vaelohs, Brandon Liu, Alexander Scheffer, Peter Schuller, Eric Austin, Alexander Kosenkov, Enrico, Markus Wolski, Tim, Scott Laing, Ignacio Flores, Gizem Gürkan, Philipi Adolfo Willemann, George Chearswat, The Partisan Pundits, Matthew Gill, oscar gautama, Artem Anchugov, Bruno Araújo, Lethargicpanda, Erven, varinder singh bal, Minghan Ko, Carlos Bohorquez, Mark Scheurwater, Rob PT, Collin Banko, Arrngrim, David Harbinson, Rikard Nyberg, Jordan Rutherford, Victor, Florian Guitton, Jezariael Demos, Ajay Shekhar, Martin Fink-Jensen, Josh Allen, Nick Yonge, Karl Snickars, Jennifer Hiller, Zr4g0n, Jon Moroney, Eugene Cham, Ryan, David Garcia Quintas, somersault18:24, Renaud Savignard, Ben Shackman, James, Viktor Asklund, Elchus, Hugo, Amdrew, Pranab Shenoy, Javier de la Garza, Yannick, Terry Lipstein, Mike Horner, Laurence Dixon, Russell McCallion, Jeff Churchill, Tim Carll, Daniel, Seona Tea, Jan Berdel, Ugurcan Kutluoglu, Morten, Sieglinde Geisel, Jeff, Finn Edwards, Dylan, Philly Cashion, Colin Palin, Clayton Fussell, Daniel Gonzalez, Denis Smajlovic, Ryan Deschamps, Dan Q, Gabriel Tougas, Fabricio Godoy, Charles Kuang, Damian Johnson, Brandon Helvie, Alex Thaler, Maximilian Ritter, Ernst, Yousif, Jesse Powell, David Taylor, Mehmet Sevil, 冠瑋 陳, Jesse MacLean, Wei Wong, Matt Collins, Jon Davis, Doc Matthews, Tori McClanahan, Dan Treasure, nga⁴, Carlos García Rojas" id="109" name="Google Shape;109;p19" title="The Fermi Paradox — Where Are All The Aliens? (1/2)">
            <a:hlinkClick r:id="rId4"/>
          </p:cNvPr>
          <p:cNvPicPr preferRelativeResize="0"/>
          <p:nvPr/>
        </p:nvPicPr>
        <p:blipFill>
          <a:blip r:embed="rId5">
            <a:alphaModFix/>
          </a:blip>
          <a:stretch>
            <a:fillRect/>
          </a:stretch>
        </p:blipFill>
        <p:spPr>
          <a:xfrm>
            <a:off x="1686975" y="1150613"/>
            <a:ext cx="5842359" cy="3286325"/>
          </a:xfrm>
          <a:prstGeom prst="rect">
            <a:avLst/>
          </a:prstGeom>
          <a:noFill/>
          <a:ln>
            <a:noFill/>
          </a:ln>
        </p:spPr>
      </p:pic>
      <p:pic>
        <p:nvPicPr>
          <p:cNvPr id="110" name="Google Shape;110;p19"/>
          <p:cNvPicPr preferRelativeResize="0"/>
          <p:nvPr/>
        </p:nvPicPr>
        <p:blipFill>
          <a:blip r:embed="rId6">
            <a:alphaModFix/>
          </a:blip>
          <a:stretch>
            <a:fillRect/>
          </a:stretch>
        </p:blipFill>
        <p:spPr>
          <a:xfrm>
            <a:off x="7652224" y="4305300"/>
            <a:ext cx="1491774" cy="83819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220725" y="133950"/>
            <a:ext cx="8713200" cy="849300"/>
          </a:xfrm>
          <a:prstGeom prst="rect">
            <a:avLst/>
          </a:prstGeom>
          <a:noFill/>
          <a:ln>
            <a:noFill/>
          </a:ln>
        </p:spPr>
        <p:txBody>
          <a:bodyPr anchorCtr="0" anchor="ctr" bIns="32750" lIns="32750" spcFirstLastPara="1" rIns="32750" wrap="square" tIns="32750">
            <a:normAutofit/>
          </a:bodyPr>
          <a:lstStyle/>
          <a:p>
            <a:pPr indent="0" lvl="0" marL="0" rtl="0" algn="ctr">
              <a:lnSpc>
                <a:spcPct val="100000"/>
              </a:lnSpc>
              <a:spcBef>
                <a:spcPts val="0"/>
              </a:spcBef>
              <a:spcAft>
                <a:spcPts val="0"/>
              </a:spcAft>
              <a:buClr>
                <a:srgbClr val="2D544A"/>
              </a:buClr>
              <a:buSzPts val="4600"/>
              <a:buFont typeface="Permanent Marker"/>
              <a:buNone/>
            </a:pPr>
            <a:r>
              <a:rPr lang="en" sz="4600"/>
              <a:t>Another Example Fermi Estimate</a:t>
            </a:r>
            <a:endParaRPr/>
          </a:p>
        </p:txBody>
      </p:sp>
      <p:sp>
        <p:nvSpPr>
          <p:cNvPr id="116" name="Google Shape;116;p20"/>
          <p:cNvSpPr txBox="1"/>
          <p:nvPr>
            <p:ph idx="1" type="body"/>
          </p:nvPr>
        </p:nvSpPr>
        <p:spPr>
          <a:xfrm>
            <a:off x="475025" y="983326"/>
            <a:ext cx="7998600" cy="681300"/>
          </a:xfrm>
          <a:prstGeom prst="rect">
            <a:avLst/>
          </a:prstGeom>
          <a:noFill/>
          <a:ln>
            <a:noFill/>
          </a:ln>
        </p:spPr>
        <p:txBody>
          <a:bodyPr anchorCtr="0" anchor="ctr" bIns="32750" lIns="32750" spcFirstLastPara="1" rIns="32750" wrap="square" tIns="32750">
            <a:normAutofit/>
          </a:bodyPr>
          <a:lstStyle/>
          <a:p>
            <a:pPr indent="0" lvl="0" marL="457200" rtl="0" algn="ctr">
              <a:lnSpc>
                <a:spcPct val="90000"/>
              </a:lnSpc>
              <a:spcBef>
                <a:spcPts val="0"/>
              </a:spcBef>
              <a:spcAft>
                <a:spcPts val="0"/>
              </a:spcAft>
              <a:buNone/>
            </a:pPr>
            <a:r>
              <a:rPr b="1" lang="en" sz="1800">
                <a:solidFill>
                  <a:schemeClr val="accent5"/>
                </a:solidFill>
              </a:rPr>
              <a:t>How many piano tuners are there in Chicago?</a:t>
            </a:r>
            <a:endParaRPr>
              <a:solidFill>
                <a:schemeClr val="accent5"/>
              </a:solidFill>
            </a:endParaRPr>
          </a:p>
        </p:txBody>
      </p:sp>
      <p:sp>
        <p:nvSpPr>
          <p:cNvPr id="117" name="Google Shape;117;p20"/>
          <p:cNvSpPr txBox="1"/>
          <p:nvPr>
            <p:ph idx="12" type="sldNum"/>
          </p:nvPr>
        </p:nvSpPr>
        <p:spPr>
          <a:xfrm>
            <a:off x="4361482" y="4889000"/>
            <a:ext cx="294300" cy="187500"/>
          </a:xfrm>
          <a:prstGeom prst="rect">
            <a:avLst/>
          </a:prstGeom>
          <a:noFill/>
          <a:ln>
            <a:noFill/>
          </a:ln>
        </p:spPr>
        <p:txBody>
          <a:bodyPr anchorCtr="0" anchor="t" bIns="32750" lIns="32750" spcFirstLastPara="1" rIns="32750" wrap="square" tIns="32750">
            <a:normAutofit lnSpcReduction="20000"/>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118" name="Google Shape;118;p20"/>
          <p:cNvPicPr preferRelativeResize="0"/>
          <p:nvPr/>
        </p:nvPicPr>
        <p:blipFill>
          <a:blip r:embed="rId3">
            <a:alphaModFix/>
          </a:blip>
          <a:stretch>
            <a:fillRect/>
          </a:stretch>
        </p:blipFill>
        <p:spPr>
          <a:xfrm>
            <a:off x="283075" y="1664626"/>
            <a:ext cx="8577828" cy="2768299"/>
          </a:xfrm>
          <a:prstGeom prst="rect">
            <a:avLst/>
          </a:prstGeom>
          <a:noFill/>
          <a:ln>
            <a:noFill/>
          </a:ln>
          <a:effectLst>
            <a:outerShdw blurRad="57150" rotWithShape="0" algn="bl" dir="5400000" dist="19050">
              <a:srgbClr val="38761D">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Put that into code</a:t>
            </a:r>
            <a:endParaRPr/>
          </a:p>
        </p:txBody>
      </p:sp>
      <p:sp>
        <p:nvSpPr>
          <p:cNvPr id="124" name="Google Shape;124;p2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pic>
        <p:nvPicPr>
          <p:cNvPr id="125" name="Google Shape;125;p21"/>
          <p:cNvPicPr preferRelativeResize="0"/>
          <p:nvPr/>
        </p:nvPicPr>
        <p:blipFill rotWithShape="1">
          <a:blip r:embed="rId3">
            <a:alphaModFix/>
          </a:blip>
          <a:srcRect b="8680" l="1423" r="2385" t="2383"/>
          <a:stretch/>
        </p:blipFill>
        <p:spPr>
          <a:xfrm>
            <a:off x="1082250" y="902550"/>
            <a:ext cx="7299931" cy="381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2"/>
          <p:cNvPicPr preferRelativeResize="0"/>
          <p:nvPr/>
        </p:nvPicPr>
        <p:blipFill>
          <a:blip r:embed="rId3">
            <a:alphaModFix/>
          </a:blip>
          <a:stretch>
            <a:fillRect/>
          </a:stretch>
        </p:blipFill>
        <p:spPr>
          <a:xfrm>
            <a:off x="1194600" y="1054825"/>
            <a:ext cx="6877050" cy="2076450"/>
          </a:xfrm>
          <a:prstGeom prst="rect">
            <a:avLst/>
          </a:prstGeom>
          <a:noFill/>
          <a:ln>
            <a:noFill/>
          </a:ln>
        </p:spPr>
      </p:pic>
      <p:sp>
        <p:nvSpPr>
          <p:cNvPr id="131" name="Google Shape;131;p22"/>
          <p:cNvSpPr txBox="1"/>
          <p:nvPr>
            <p:ph type="title"/>
          </p:nvPr>
        </p:nvSpPr>
        <p:spPr>
          <a:xfrm>
            <a:off x="1131975" y="170625"/>
            <a:ext cx="6875700" cy="721500"/>
          </a:xfrm>
          <a:prstGeom prst="rect">
            <a:avLst/>
          </a:prstGeom>
          <a:noFill/>
          <a:ln>
            <a:noFill/>
          </a:ln>
        </p:spPr>
        <p:txBody>
          <a:bodyPr anchorCtr="0" anchor="ctr" bIns="32750" lIns="32750" spcFirstLastPara="1" rIns="32750" wrap="square" tIns="32750">
            <a:normAutofit/>
          </a:bodyPr>
          <a:lstStyle/>
          <a:p>
            <a:pPr indent="0" lvl="0" marL="0" rtl="0" algn="l">
              <a:lnSpc>
                <a:spcPct val="100000"/>
              </a:lnSpc>
              <a:spcBef>
                <a:spcPts val="0"/>
              </a:spcBef>
              <a:spcAft>
                <a:spcPts val="0"/>
              </a:spcAft>
              <a:buClr>
                <a:srgbClr val="2D544A"/>
              </a:buClr>
              <a:buSzPts val="4600"/>
              <a:buFont typeface="Permanent Marker"/>
              <a:buNone/>
            </a:pPr>
            <a:r>
              <a:rPr lang="en" sz="3600"/>
              <a:t>Embrace the Error Messages!</a:t>
            </a:r>
            <a:endParaRPr sz="3600"/>
          </a:p>
        </p:txBody>
      </p:sp>
      <p:sp>
        <p:nvSpPr>
          <p:cNvPr id="132" name="Google Shape;132;p22"/>
          <p:cNvSpPr txBox="1"/>
          <p:nvPr>
            <p:ph idx="12" type="sldNum"/>
          </p:nvPr>
        </p:nvSpPr>
        <p:spPr>
          <a:xfrm>
            <a:off x="4483865" y="4889004"/>
            <a:ext cx="171900" cy="187500"/>
          </a:xfrm>
          <a:prstGeom prst="rect">
            <a:avLst/>
          </a:prstGeom>
          <a:noFill/>
          <a:ln>
            <a:noFill/>
          </a:ln>
        </p:spPr>
        <p:txBody>
          <a:bodyPr anchorCtr="0" anchor="t" bIns="32750" lIns="32750" spcFirstLastPara="1" rIns="32750" wrap="square" tIns="32750">
            <a:normAutofit lnSpcReduction="20000"/>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
        <p:nvSpPr>
          <p:cNvPr id="133" name="Google Shape;133;p22"/>
          <p:cNvSpPr txBox="1"/>
          <p:nvPr/>
        </p:nvSpPr>
        <p:spPr>
          <a:xfrm>
            <a:off x="768375" y="4197175"/>
            <a:ext cx="8045700" cy="5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B7B7B7"/>
                </a:solidFill>
                <a:latin typeface="Permanent Marker"/>
                <a:ea typeface="Permanent Marker"/>
                <a:cs typeface="Permanent Marker"/>
                <a:sym typeface="Permanent Marker"/>
              </a:rPr>
              <a:t>The good news about computers is that they do what you tell them to do. The bad news is that they do what you tell them to do.</a:t>
            </a:r>
            <a:endParaRPr sz="1300">
              <a:solidFill>
                <a:srgbClr val="B7B7B7"/>
              </a:solidFill>
              <a:latin typeface="Permanent Marker"/>
              <a:ea typeface="Permanent Marker"/>
              <a:cs typeface="Permanent Marker"/>
              <a:sym typeface="Permanent Marker"/>
            </a:endParaRPr>
          </a:p>
        </p:txBody>
      </p:sp>
      <p:pic>
        <p:nvPicPr>
          <p:cNvPr id="134" name="Google Shape;134;p22"/>
          <p:cNvPicPr preferRelativeResize="0"/>
          <p:nvPr/>
        </p:nvPicPr>
        <p:blipFill>
          <a:blip r:embed="rId4">
            <a:alphaModFix/>
          </a:blip>
          <a:stretch>
            <a:fillRect/>
          </a:stretch>
        </p:blipFill>
        <p:spPr>
          <a:xfrm>
            <a:off x="5866675" y="2345520"/>
            <a:ext cx="2866050" cy="1799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1273500" y="75250"/>
            <a:ext cx="6597000" cy="721500"/>
          </a:xfrm>
          <a:prstGeom prst="rect">
            <a:avLst/>
          </a:prstGeom>
          <a:noFill/>
          <a:ln>
            <a:noFill/>
          </a:ln>
        </p:spPr>
        <p:txBody>
          <a:bodyPr anchorCtr="0" anchor="ctr" bIns="32750" lIns="32750" spcFirstLastPara="1" rIns="32750" wrap="square" tIns="32750">
            <a:normAutofit/>
          </a:bodyPr>
          <a:lstStyle/>
          <a:p>
            <a:pPr indent="0" lvl="0" marL="0" rtl="0" algn="l">
              <a:lnSpc>
                <a:spcPct val="100000"/>
              </a:lnSpc>
              <a:spcBef>
                <a:spcPts val="0"/>
              </a:spcBef>
              <a:spcAft>
                <a:spcPts val="0"/>
              </a:spcAft>
              <a:buClr>
                <a:srgbClr val="2D544A"/>
              </a:buClr>
              <a:buSzPts val="4600"/>
              <a:buFont typeface="Permanent Marker"/>
              <a:buNone/>
            </a:pPr>
            <a:r>
              <a:rPr lang="en" sz="3600"/>
              <a:t>Today’s In-Class Assignment</a:t>
            </a:r>
            <a:endParaRPr sz="3600"/>
          </a:p>
        </p:txBody>
      </p:sp>
      <p:sp>
        <p:nvSpPr>
          <p:cNvPr id="140" name="Google Shape;140;p23"/>
          <p:cNvSpPr txBox="1"/>
          <p:nvPr>
            <p:ph idx="12" type="sldNum"/>
          </p:nvPr>
        </p:nvSpPr>
        <p:spPr>
          <a:xfrm>
            <a:off x="4434953" y="4889000"/>
            <a:ext cx="220800" cy="187500"/>
          </a:xfrm>
          <a:prstGeom prst="rect">
            <a:avLst/>
          </a:prstGeom>
          <a:noFill/>
          <a:ln>
            <a:noFill/>
          </a:ln>
        </p:spPr>
        <p:txBody>
          <a:bodyPr anchorCtr="0" anchor="t" bIns="32750" lIns="32750" spcFirstLastPara="1" rIns="32750" wrap="square" tIns="32750">
            <a:normAutofit lnSpcReduction="20000"/>
          </a:bodyPr>
          <a:lstStyle/>
          <a:p>
            <a:pPr indent="0" lvl="0" marL="0" rtl="0" algn="r">
              <a:spcBef>
                <a:spcPts val="0"/>
              </a:spcBef>
              <a:spcAft>
                <a:spcPts val="0"/>
              </a:spcAft>
              <a:buNone/>
            </a:pPr>
            <a:fld id="{00000000-1234-1234-1234-123412341234}" type="slidenum">
              <a:rPr lang="en">
                <a:solidFill>
                  <a:schemeClr val="accent3"/>
                </a:solidFill>
                <a:latin typeface="Average"/>
                <a:ea typeface="Average"/>
                <a:cs typeface="Average"/>
                <a:sym typeface="Average"/>
              </a:rPr>
              <a:t>‹#›</a:t>
            </a:fld>
            <a:endParaRPr>
              <a:solidFill>
                <a:schemeClr val="accent3"/>
              </a:solidFill>
              <a:latin typeface="Average"/>
              <a:ea typeface="Average"/>
              <a:cs typeface="Average"/>
              <a:sym typeface="Average"/>
            </a:endParaRPr>
          </a:p>
        </p:txBody>
      </p:sp>
      <p:sp>
        <p:nvSpPr>
          <p:cNvPr id="141" name="Google Shape;141;p23"/>
          <p:cNvSpPr txBox="1"/>
          <p:nvPr/>
        </p:nvSpPr>
        <p:spPr>
          <a:xfrm>
            <a:off x="93475" y="796750"/>
            <a:ext cx="5310600" cy="2867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accent5"/>
              </a:buClr>
              <a:buSzPts val="1400"/>
              <a:buFont typeface="Average"/>
              <a:buAutoNum type="arabicPeriod"/>
            </a:pPr>
            <a:r>
              <a:rPr lang="en">
                <a:solidFill>
                  <a:schemeClr val="accent5"/>
                </a:solidFill>
                <a:latin typeface="Average"/>
                <a:ea typeface="Average"/>
                <a:cs typeface="Average"/>
                <a:sym typeface="Average"/>
              </a:rPr>
              <a:t>Form Groups of max 4 People</a:t>
            </a:r>
            <a:endParaRPr>
              <a:solidFill>
                <a:schemeClr val="accent5"/>
              </a:solidFill>
              <a:latin typeface="Average"/>
              <a:ea typeface="Average"/>
              <a:cs typeface="Average"/>
              <a:sym typeface="Average"/>
            </a:endParaRPr>
          </a:p>
          <a:p>
            <a:pPr indent="-317500" lvl="0" marL="457200" rtl="0" algn="l">
              <a:spcBef>
                <a:spcPts val="1000"/>
              </a:spcBef>
              <a:spcAft>
                <a:spcPts val="0"/>
              </a:spcAft>
              <a:buClr>
                <a:schemeClr val="accent5"/>
              </a:buClr>
              <a:buSzPts val="1400"/>
              <a:buFont typeface="Average"/>
              <a:buAutoNum type="arabicPeriod"/>
            </a:pPr>
            <a:r>
              <a:rPr lang="en">
                <a:solidFill>
                  <a:schemeClr val="accent5"/>
                </a:solidFill>
                <a:latin typeface="Average"/>
                <a:ea typeface="Average"/>
                <a:cs typeface="Average"/>
                <a:sym typeface="Average"/>
              </a:rPr>
              <a:t>Download the Jupyter notebook for Day 02 In-Class Assignment from the website</a:t>
            </a:r>
            <a:endParaRPr>
              <a:solidFill>
                <a:schemeClr val="accent5"/>
              </a:solidFill>
              <a:latin typeface="Average"/>
              <a:ea typeface="Average"/>
              <a:cs typeface="Average"/>
              <a:sym typeface="Average"/>
            </a:endParaRPr>
          </a:p>
          <a:p>
            <a:pPr indent="-317500" lvl="0" marL="457200" rtl="0" algn="l">
              <a:spcBef>
                <a:spcPts val="1000"/>
              </a:spcBef>
              <a:spcAft>
                <a:spcPts val="0"/>
              </a:spcAft>
              <a:buClr>
                <a:schemeClr val="accent5"/>
              </a:buClr>
              <a:buSzPts val="1400"/>
              <a:buFont typeface="Average"/>
              <a:buAutoNum type="arabicPeriod"/>
            </a:pPr>
            <a:r>
              <a:rPr lang="en">
                <a:solidFill>
                  <a:schemeClr val="accent5"/>
                </a:solidFill>
                <a:latin typeface="Average"/>
                <a:ea typeface="Average"/>
                <a:cs typeface="Average"/>
                <a:sym typeface="Average"/>
              </a:rPr>
              <a:t>Make sure it is running on your computer, and help the people around you.</a:t>
            </a:r>
            <a:endParaRPr>
              <a:solidFill>
                <a:schemeClr val="accent5"/>
              </a:solidFill>
              <a:latin typeface="Average"/>
              <a:ea typeface="Average"/>
              <a:cs typeface="Average"/>
              <a:sym typeface="Average"/>
            </a:endParaRPr>
          </a:p>
          <a:p>
            <a:pPr indent="-317500" lvl="0" marL="457200" rtl="0" algn="l">
              <a:spcBef>
                <a:spcPts val="1000"/>
              </a:spcBef>
              <a:spcAft>
                <a:spcPts val="0"/>
              </a:spcAft>
              <a:buClr>
                <a:schemeClr val="accent5"/>
              </a:buClr>
              <a:buSzPts val="1400"/>
              <a:buFont typeface="Average"/>
              <a:buAutoNum type="arabicPeriod"/>
            </a:pPr>
            <a:r>
              <a:rPr lang="en">
                <a:solidFill>
                  <a:schemeClr val="accent5"/>
                </a:solidFill>
                <a:latin typeface="Average"/>
                <a:ea typeface="Average"/>
                <a:cs typeface="Average"/>
                <a:sym typeface="Average"/>
              </a:rPr>
              <a:t>Assign problem to each group</a:t>
            </a:r>
            <a:endParaRPr>
              <a:solidFill>
                <a:schemeClr val="accent5"/>
              </a:solidFill>
              <a:latin typeface="Average"/>
              <a:ea typeface="Average"/>
              <a:cs typeface="Average"/>
              <a:sym typeface="Average"/>
            </a:endParaRPr>
          </a:p>
          <a:p>
            <a:pPr indent="-317500" lvl="0" marL="457200" rtl="0" algn="l">
              <a:spcBef>
                <a:spcPts val="1000"/>
              </a:spcBef>
              <a:spcAft>
                <a:spcPts val="1000"/>
              </a:spcAft>
              <a:buClr>
                <a:schemeClr val="accent5"/>
              </a:buClr>
              <a:buSzPts val="1400"/>
              <a:buFont typeface="Average"/>
              <a:buAutoNum type="arabicPeriod"/>
            </a:pPr>
            <a:r>
              <a:rPr lang="en">
                <a:solidFill>
                  <a:schemeClr val="accent5"/>
                </a:solidFill>
                <a:latin typeface="Average"/>
                <a:ea typeface="Average"/>
                <a:cs typeface="Average"/>
                <a:sym typeface="Average"/>
              </a:rPr>
              <a:t>Share out at 9:40 am</a:t>
            </a:r>
            <a:endParaRPr>
              <a:solidFill>
                <a:schemeClr val="accent5"/>
              </a:solidFill>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 not forget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7" name="Google Shape;14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lnSpc>
                <a:spcPct val="100000"/>
              </a:lnSpc>
              <a:spcBef>
                <a:spcPts val="0"/>
              </a:spcBef>
              <a:spcAft>
                <a:spcPts val="0"/>
              </a:spcAft>
              <a:buClr>
                <a:schemeClr val="accent5"/>
              </a:buClr>
              <a:buSzPts val="2400"/>
              <a:buFont typeface="Oswald"/>
              <a:buChar char="●"/>
            </a:pPr>
            <a:r>
              <a:rPr lang="en" sz="2400">
                <a:solidFill>
                  <a:schemeClr val="accent5"/>
                </a:solidFill>
                <a:latin typeface="Oswald"/>
                <a:ea typeface="Oswald"/>
                <a:cs typeface="Oswald"/>
                <a:sym typeface="Oswald"/>
              </a:rPr>
              <a:t>Submit the survey</a:t>
            </a:r>
            <a:br>
              <a:rPr lang="en" sz="2400">
                <a:solidFill>
                  <a:schemeClr val="accent5"/>
                </a:solidFill>
                <a:latin typeface="Oswald"/>
                <a:ea typeface="Oswald"/>
                <a:cs typeface="Oswald"/>
                <a:sym typeface="Oswald"/>
              </a:rPr>
            </a:br>
            <a:endParaRPr sz="2400">
              <a:solidFill>
                <a:schemeClr val="accent5"/>
              </a:solidFill>
              <a:latin typeface="Oswald"/>
              <a:ea typeface="Oswald"/>
              <a:cs typeface="Oswald"/>
              <a:sym typeface="Oswald"/>
            </a:endParaRPr>
          </a:p>
          <a:p>
            <a:pPr indent="-381000" lvl="0" marL="457200" rtl="0" algn="l">
              <a:lnSpc>
                <a:spcPct val="100000"/>
              </a:lnSpc>
              <a:spcBef>
                <a:spcPts val="0"/>
              </a:spcBef>
              <a:spcAft>
                <a:spcPts val="0"/>
              </a:spcAft>
              <a:buClr>
                <a:schemeClr val="accent5"/>
              </a:buClr>
              <a:buSzPts val="2400"/>
              <a:buFont typeface="Oswald"/>
              <a:buChar char="●"/>
            </a:pPr>
            <a:r>
              <a:rPr lang="en" sz="2400">
                <a:solidFill>
                  <a:schemeClr val="accent5"/>
                </a:solidFill>
                <a:latin typeface="Oswald"/>
                <a:ea typeface="Oswald"/>
                <a:cs typeface="Oswald"/>
                <a:sym typeface="Oswald"/>
              </a:rPr>
              <a:t>Submit Notebook to D2L</a:t>
            </a:r>
            <a:br>
              <a:rPr lang="en" sz="2400">
                <a:solidFill>
                  <a:schemeClr val="accent5"/>
                </a:solidFill>
                <a:latin typeface="Oswald"/>
                <a:ea typeface="Oswald"/>
                <a:cs typeface="Oswald"/>
                <a:sym typeface="Oswald"/>
              </a:rPr>
            </a:br>
            <a:endParaRPr sz="2400">
              <a:solidFill>
                <a:schemeClr val="accent5"/>
              </a:solidFill>
              <a:latin typeface="Oswald"/>
              <a:ea typeface="Oswald"/>
              <a:cs typeface="Oswald"/>
              <a:sym typeface="Oswald"/>
            </a:endParaRPr>
          </a:p>
          <a:p>
            <a:pPr indent="-381000" lvl="0" marL="457200" rtl="0" algn="l">
              <a:lnSpc>
                <a:spcPct val="100000"/>
              </a:lnSpc>
              <a:spcBef>
                <a:spcPts val="0"/>
              </a:spcBef>
              <a:spcAft>
                <a:spcPts val="0"/>
              </a:spcAft>
              <a:buClr>
                <a:schemeClr val="accent5"/>
              </a:buClr>
              <a:buSzPts val="2400"/>
              <a:buFont typeface="Oswald"/>
              <a:buChar char="●"/>
            </a:pPr>
            <a:r>
              <a:rPr lang="en" sz="2400">
                <a:solidFill>
                  <a:schemeClr val="accent5"/>
                </a:solidFill>
                <a:latin typeface="Oswald"/>
                <a:ea typeface="Oswald"/>
                <a:cs typeface="Oswald"/>
                <a:sym typeface="Oswald"/>
              </a:rPr>
              <a:t>Day 03 Pre-Class Due Monday at 5PM</a:t>
            </a:r>
            <a:endParaRPr sz="2400">
              <a:solidFill>
                <a:schemeClr val="accent5"/>
              </a:solidFill>
              <a:latin typeface="Oswald"/>
              <a:ea typeface="Oswald"/>
              <a:cs typeface="Oswald"/>
              <a:sym typeface="Oswald"/>
            </a:endParaRPr>
          </a:p>
          <a:p>
            <a:pPr indent="0" lvl="0" marL="0" rtl="0" algn="l">
              <a:spcBef>
                <a:spcPts val="0"/>
              </a:spcBef>
              <a:spcAft>
                <a:spcPts val="1200"/>
              </a:spcAft>
              <a:buNone/>
            </a:pPr>
            <a:r>
              <a:t/>
            </a:r>
            <a:endParaRPr/>
          </a:p>
        </p:txBody>
      </p:sp>
      <p:sp>
        <p:nvSpPr>
          <p:cNvPr id="148" name="Google Shape;148;p2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