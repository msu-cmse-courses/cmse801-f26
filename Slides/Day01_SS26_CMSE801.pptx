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Average"/>
      <p:regular r:id="rId32"/>
    </p:embeddedFont>
    <p:embeddedFont>
      <p:font typeface="Oswald"/>
      <p:regular r:id="rId33"/>
      <p:bold r:id="rId34"/>
    </p:embeddedFont>
    <p:embeddedFont>
      <p:font typeface="Comforta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6D9737-5519-46F4-808F-6E1F358B740E}">
  <a:tblStyle styleId="{AB6D9737-5519-46F4-808F-6E1F358B740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Oswald-regular.fntdata"/><Relationship Id="rId10" Type="http://schemas.openxmlformats.org/officeDocument/2006/relationships/slide" Target="slides/slide4.xml"/><Relationship Id="rId32" Type="http://schemas.openxmlformats.org/officeDocument/2006/relationships/font" Target="fonts/Average-regular.fntdata"/><Relationship Id="rId13" Type="http://schemas.openxmlformats.org/officeDocument/2006/relationships/slide" Target="slides/slide7.xml"/><Relationship Id="rId35" Type="http://schemas.openxmlformats.org/officeDocument/2006/relationships/font" Target="fonts/Comfortaa-regular.fntdata"/><Relationship Id="rId12" Type="http://schemas.openxmlformats.org/officeDocument/2006/relationships/slide" Target="slides/slide6.xml"/><Relationship Id="rId34" Type="http://schemas.openxmlformats.org/officeDocument/2006/relationships/font" Target="fonts/Oswald-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Comforta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d1b9a653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d1b9a6535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d1b9a6535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d1b9a6535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d1b9a6535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d1b9a6535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d1b9a6535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d1b9a6535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d1b9a6535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d1b9a6535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d1b9a6535a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d1b9a6535a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d1b9a6535a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d1b9a6535a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d1b9a6535a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d1b9a6535a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1b9a6535a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1b9a6535a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d1b9a6535a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d1b9a6535a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d1b9a6535a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d1b9a6535a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d1b9a6535a_1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d1b9a6535a_1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d1b9a6535a_1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d1b9a6535a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d1b9a6535a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d1b9a6535a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d1b9a6535a_1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d1b9a6535a_1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1b9a6535a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1b9a6535a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d1b9a6535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d1b9a6535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3ef84ce0d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3ef84ce0d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ca55982cf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ca55982cf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3ef84ce0d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3ef84ce0d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3ef84ce0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3ef84ce0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d1b9a6535a_1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d1b9a6535a_1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d1b9a6535a_1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d1b9a6535a_1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d1b9a6535a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d1b9a6535a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mailto:mengsen@msu.edu" TargetMode="External"/><Relationship Id="rId4" Type="http://schemas.openxmlformats.org/officeDocument/2006/relationships/hyperlink" Target="mailto:johnprak@msu.edu" TargetMode="External"/><Relationship Id="rId5" Type="http://schemas.openxmlformats.org/officeDocument/2006/relationships/hyperlink" Target="https://msu-cmse-courses.github.io/CMSE801-S26/intro.html#office-hours" TargetMode="External"/><Relationship Id="rId6" Type="http://schemas.openxmlformats.org/officeDocument/2006/relationships/hyperlink" Target="https://msu-cmse-courses.github.io/CMSE801-S26" TargetMode="External"/><Relationship Id="rId7" Type="http://schemas.openxmlformats.org/officeDocument/2006/relationships/hyperlink" Target="https://msu-cmse-courses.github.io/cmse801-S24/intro.html" TargetMode="External"/><Relationship Id="rId8"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msu.edu/together-we-will/covid19-guidance/#testing"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msu-cmse-courses.github.io/CMSE801-S26/Course_Documents/Schedule/schedule.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s://honorcode.msu.edu/about/%E2%80%8B" TargetMode="External"/><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msu-cmse-courses.github.io/CMSE801-S26/Course_Documents/Syllabus/syllabus.html#class-discuss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realpython.com" TargetMode="External"/><Relationship Id="rId4" Type="http://schemas.openxmlformats.org/officeDocument/2006/relationships/hyperlink" Target="https://www.youtube.com/watch?v=bY6m6_IIN94&amp;list=PLi01XoE8jYohWFPpC17Z-wWhPOSuh8Er-" TargetMode="External"/><Relationship Id="rId5" Type="http://schemas.openxmlformats.org/officeDocument/2006/relationships/image" Target="../media/image8.png"/><Relationship Id="rId6"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msu-cmse-courses.github.io/CMSE801-S26"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279450" y="113975"/>
            <a:ext cx="8585100" cy="2667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Welcome to</a:t>
            </a:r>
            <a:br>
              <a:rPr lang="en"/>
            </a:br>
            <a:r>
              <a:rPr lang="en"/>
              <a:t>CMSE 801</a:t>
            </a:r>
            <a:endParaRPr/>
          </a:p>
        </p:txBody>
      </p:sp>
      <p:sp>
        <p:nvSpPr>
          <p:cNvPr id="60" name="Google Shape;60;p13"/>
          <p:cNvSpPr txBox="1"/>
          <p:nvPr>
            <p:ph idx="1" type="subTitle"/>
          </p:nvPr>
        </p:nvSpPr>
        <p:spPr>
          <a:xfrm>
            <a:off x="311700" y="3647075"/>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Find a friend and </a:t>
            </a:r>
            <a:br>
              <a:rPr lang="en"/>
            </a:br>
            <a:r>
              <a:rPr lang="en"/>
              <a:t>sit anywhere for now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65500" y="929275"/>
            <a:ext cx="4306500" cy="150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CMSE 801 Team</a:t>
            </a:r>
            <a:endParaRPr/>
          </a:p>
        </p:txBody>
      </p:sp>
      <p:sp>
        <p:nvSpPr>
          <p:cNvPr id="66" name="Google Shape;66;p14"/>
          <p:cNvSpPr txBox="1"/>
          <p:nvPr>
            <p:ph idx="1" type="subTitle"/>
          </p:nvPr>
        </p:nvSpPr>
        <p:spPr>
          <a:xfrm>
            <a:off x="265500" y="2803075"/>
            <a:ext cx="4140900" cy="20364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1500">
                <a:latin typeface="Comfortaa"/>
                <a:ea typeface="Comfortaa"/>
                <a:cs typeface="Comfortaa"/>
                <a:sym typeface="Comfortaa"/>
              </a:rPr>
              <a:t>Dr. </a:t>
            </a:r>
            <a:r>
              <a:rPr b="1" lang="en" sz="1500">
                <a:latin typeface="Comfortaa"/>
                <a:ea typeface="Comfortaa"/>
                <a:cs typeface="Comfortaa"/>
                <a:sym typeface="Comfortaa"/>
              </a:rPr>
              <a:t>Mengsen Zhang</a:t>
            </a:r>
            <a:r>
              <a:rPr lang="en" sz="1500">
                <a:latin typeface="Comfortaa"/>
                <a:ea typeface="Comfortaa"/>
                <a:cs typeface="Comfortaa"/>
                <a:sym typeface="Comfortaa"/>
              </a:rPr>
              <a:t> </a:t>
            </a:r>
            <a:endParaRPr sz="1500">
              <a:latin typeface="Comfortaa"/>
              <a:ea typeface="Comfortaa"/>
              <a:cs typeface="Comfortaa"/>
              <a:sym typeface="Comfortaa"/>
            </a:endParaRPr>
          </a:p>
          <a:p>
            <a:pPr indent="0" lvl="0" marL="0" rtl="0" algn="ctr">
              <a:lnSpc>
                <a:spcPct val="80000"/>
              </a:lnSpc>
              <a:spcBef>
                <a:spcPts val="0"/>
              </a:spcBef>
              <a:spcAft>
                <a:spcPts val="0"/>
              </a:spcAft>
              <a:buSzPts val="605"/>
              <a:buNone/>
            </a:pPr>
            <a:r>
              <a:rPr lang="en" sz="1500">
                <a:latin typeface="Comfortaa"/>
                <a:ea typeface="Comfortaa"/>
                <a:cs typeface="Comfortaa"/>
                <a:sym typeface="Comfortaa"/>
              </a:rPr>
              <a:t>(Instructor before spring break)</a:t>
            </a:r>
            <a:br>
              <a:rPr lang="en" sz="1500">
                <a:latin typeface="Comfortaa"/>
                <a:ea typeface="Comfortaa"/>
                <a:cs typeface="Comfortaa"/>
                <a:sym typeface="Comfortaa"/>
              </a:rPr>
            </a:br>
            <a:br>
              <a:rPr lang="en" sz="1500">
                <a:latin typeface="Comfortaa"/>
                <a:ea typeface="Comfortaa"/>
                <a:cs typeface="Comfortaa"/>
                <a:sym typeface="Comfortaa"/>
              </a:rPr>
            </a:br>
            <a:r>
              <a:rPr lang="en" sz="1500">
                <a:latin typeface="Comfortaa"/>
                <a:ea typeface="Comfortaa"/>
                <a:cs typeface="Comfortaa"/>
                <a:sym typeface="Comfortaa"/>
              </a:rPr>
              <a:t>Dr. Guan’ao Yan </a:t>
            </a:r>
            <a:endParaRPr sz="1500">
              <a:latin typeface="Comfortaa"/>
              <a:ea typeface="Comfortaa"/>
              <a:cs typeface="Comfortaa"/>
              <a:sym typeface="Comfortaa"/>
            </a:endParaRPr>
          </a:p>
          <a:p>
            <a:pPr indent="0" lvl="0" marL="0" rtl="0" algn="ctr">
              <a:lnSpc>
                <a:spcPct val="80000"/>
              </a:lnSpc>
              <a:spcBef>
                <a:spcPts val="0"/>
              </a:spcBef>
              <a:spcAft>
                <a:spcPts val="0"/>
              </a:spcAft>
              <a:buSzPts val="605"/>
              <a:buNone/>
            </a:pPr>
            <a:r>
              <a:rPr lang="en" sz="1500">
                <a:latin typeface="Comfortaa"/>
                <a:ea typeface="Comfortaa"/>
                <a:cs typeface="Comfortaa"/>
                <a:sym typeface="Comfortaa"/>
              </a:rPr>
              <a:t>(Instructor after spring break)</a:t>
            </a:r>
            <a:endParaRPr sz="1500">
              <a:latin typeface="Comfortaa"/>
              <a:ea typeface="Comfortaa"/>
              <a:cs typeface="Comfortaa"/>
              <a:sym typeface="Comfortaa"/>
            </a:endParaRPr>
          </a:p>
          <a:p>
            <a:pPr indent="0" lvl="0" marL="0" rtl="0" algn="ctr">
              <a:lnSpc>
                <a:spcPct val="80000"/>
              </a:lnSpc>
              <a:spcBef>
                <a:spcPts val="0"/>
              </a:spcBef>
              <a:spcAft>
                <a:spcPts val="0"/>
              </a:spcAft>
              <a:buSzPts val="605"/>
              <a:buNone/>
            </a:pPr>
            <a:r>
              <a:t/>
            </a:r>
            <a:endParaRPr sz="1500">
              <a:latin typeface="Comfortaa"/>
              <a:ea typeface="Comfortaa"/>
              <a:cs typeface="Comfortaa"/>
              <a:sym typeface="Comfortaa"/>
            </a:endParaRPr>
          </a:p>
          <a:p>
            <a:pPr indent="0" lvl="0" marL="0" rtl="0" algn="ctr">
              <a:lnSpc>
                <a:spcPct val="80000"/>
              </a:lnSpc>
              <a:spcBef>
                <a:spcPts val="0"/>
              </a:spcBef>
              <a:spcAft>
                <a:spcPts val="0"/>
              </a:spcAft>
              <a:buSzPts val="605"/>
              <a:buNone/>
            </a:pPr>
            <a:r>
              <a:rPr lang="en" sz="1500">
                <a:latin typeface="Comfortaa"/>
                <a:ea typeface="Comfortaa"/>
                <a:cs typeface="Comfortaa"/>
                <a:sym typeface="Comfortaa"/>
              </a:rPr>
              <a:t>Andrew Johnprakash</a:t>
            </a:r>
            <a:r>
              <a:rPr lang="en" sz="1500">
                <a:latin typeface="Comfortaa"/>
                <a:ea typeface="Comfortaa"/>
                <a:cs typeface="Comfortaa"/>
                <a:sym typeface="Comfortaa"/>
              </a:rPr>
              <a:t> (TA/Grader)​</a:t>
            </a:r>
            <a:endParaRPr sz="1500">
              <a:latin typeface="Comfortaa"/>
              <a:ea typeface="Comfortaa"/>
              <a:cs typeface="Comfortaa"/>
              <a:sym typeface="Comfortaa"/>
            </a:endParaRPr>
          </a:p>
          <a:p>
            <a:pPr indent="0" lvl="0" marL="0" rtl="0" algn="ctr">
              <a:lnSpc>
                <a:spcPct val="80000"/>
              </a:lnSpc>
              <a:spcBef>
                <a:spcPts val="0"/>
              </a:spcBef>
              <a:spcAft>
                <a:spcPts val="0"/>
              </a:spcAft>
              <a:buSzPts val="605"/>
              <a:buNone/>
            </a:pPr>
            <a:r>
              <a:t/>
            </a:r>
            <a:endParaRPr sz="1500">
              <a:latin typeface="Comfortaa"/>
              <a:ea typeface="Comfortaa"/>
              <a:cs typeface="Comfortaa"/>
              <a:sym typeface="Comfortaa"/>
            </a:endParaRPr>
          </a:p>
        </p:txBody>
      </p:sp>
      <p:pic>
        <p:nvPicPr>
          <p:cNvPr id="67" name="Google Shape;67;p14"/>
          <p:cNvPicPr preferRelativeResize="0"/>
          <p:nvPr/>
        </p:nvPicPr>
        <p:blipFill>
          <a:blip r:embed="rId3">
            <a:alphaModFix/>
          </a:blip>
          <a:stretch>
            <a:fillRect/>
          </a:stretch>
        </p:blipFill>
        <p:spPr>
          <a:xfrm>
            <a:off x="4615500" y="1033700"/>
            <a:ext cx="4528501" cy="3444212"/>
          </a:xfrm>
          <a:prstGeom prst="rect">
            <a:avLst/>
          </a:prstGeom>
          <a:noFill/>
          <a:ln>
            <a:noFill/>
          </a:ln>
        </p:spPr>
      </p:pic>
      <p:sp>
        <p:nvSpPr>
          <p:cNvPr id="68" name="Google Shape;68;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verage"/>
                <a:ea typeface="Average"/>
                <a:cs typeface="Average"/>
                <a:sym typeface="Average"/>
              </a:rPr>
              <a:t>‹#›</a:t>
            </a:fld>
            <a:endParaRPr>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265500" y="93550"/>
            <a:ext cx="4255200" cy="1064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About me</a:t>
            </a:r>
            <a:endParaRPr/>
          </a:p>
        </p:txBody>
      </p:sp>
      <p:sp>
        <p:nvSpPr>
          <p:cNvPr id="74" name="Google Shape;74;p15"/>
          <p:cNvSpPr txBox="1"/>
          <p:nvPr>
            <p:ph idx="1" type="subTitle"/>
          </p:nvPr>
        </p:nvSpPr>
        <p:spPr>
          <a:xfrm>
            <a:off x="0" y="1200400"/>
            <a:ext cx="4511100" cy="326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PhD in Complex Systems</a:t>
            </a:r>
            <a:r>
              <a:rPr lang="en"/>
              <a:t> </a:t>
            </a:r>
            <a:endParaRPr/>
          </a:p>
          <a:p>
            <a:pPr indent="0" lvl="0" marL="0" rtl="0" algn="ctr">
              <a:spcBef>
                <a:spcPts val="0"/>
              </a:spcBef>
              <a:spcAft>
                <a:spcPts val="0"/>
              </a:spcAft>
              <a:buNone/>
            </a:pPr>
            <a:r>
              <a:rPr lang="en"/>
              <a:t>@ Florida Atlantic University</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Postdoc in Computational Neuroscience </a:t>
            </a:r>
            <a:endParaRPr/>
          </a:p>
          <a:p>
            <a:pPr indent="0" lvl="0" marL="0" rtl="0" algn="ctr">
              <a:spcBef>
                <a:spcPts val="0"/>
              </a:spcBef>
              <a:spcAft>
                <a:spcPts val="0"/>
              </a:spcAft>
              <a:buNone/>
            </a:pPr>
            <a:r>
              <a:rPr lang="en"/>
              <a:t>@ Stanford, UNC-Chapel Hill</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Assistant Professor in CMSE (MSU)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Computational Neuroscience, </a:t>
            </a:r>
            <a:endParaRPr/>
          </a:p>
          <a:p>
            <a:pPr indent="0" lvl="0" marL="0" rtl="0" algn="ctr">
              <a:spcBef>
                <a:spcPts val="0"/>
              </a:spcBef>
              <a:spcAft>
                <a:spcPts val="0"/>
              </a:spcAft>
              <a:buNone/>
            </a:pPr>
            <a:r>
              <a:rPr lang="en"/>
              <a:t>Dynamical Systems, </a:t>
            </a:r>
            <a:endParaRPr/>
          </a:p>
          <a:p>
            <a:pPr indent="0" lvl="0" marL="0" rtl="0" algn="ctr">
              <a:spcBef>
                <a:spcPts val="0"/>
              </a:spcBef>
              <a:spcAft>
                <a:spcPts val="0"/>
              </a:spcAft>
              <a:buNone/>
            </a:pPr>
            <a:r>
              <a:rPr lang="en"/>
              <a:t>Computational Topology</a:t>
            </a:r>
            <a:endParaRPr/>
          </a:p>
        </p:txBody>
      </p:sp>
      <p:sp>
        <p:nvSpPr>
          <p:cNvPr id="75" name="Google Shape;75;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verage"/>
                <a:ea typeface="Average"/>
                <a:cs typeface="Average"/>
                <a:sym typeface="Average"/>
              </a:rPr>
              <a:t>‹#›</a:t>
            </a:fld>
            <a:endParaRPr>
              <a:latin typeface="Average"/>
              <a:ea typeface="Average"/>
              <a:cs typeface="Average"/>
              <a:sym typeface="Average"/>
            </a:endParaRPr>
          </a:p>
        </p:txBody>
      </p:sp>
      <p:sp>
        <p:nvSpPr>
          <p:cNvPr id="76" name="Google Shape;76;p15"/>
          <p:cNvSpPr txBox="1"/>
          <p:nvPr/>
        </p:nvSpPr>
        <p:spPr>
          <a:xfrm>
            <a:off x="4811650" y="1815350"/>
            <a:ext cx="2186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Oswald"/>
                <a:ea typeface="Oswald"/>
                <a:cs typeface="Oswald"/>
                <a:sym typeface="Oswald"/>
              </a:rPr>
              <a:t>My Name:</a:t>
            </a:r>
            <a:endParaRPr sz="1800">
              <a:solidFill>
                <a:schemeClr val="lt1"/>
              </a:solidFill>
              <a:latin typeface="Oswald"/>
              <a:ea typeface="Oswald"/>
              <a:cs typeface="Oswald"/>
              <a:sym typeface="Oswald"/>
            </a:endParaRPr>
          </a:p>
          <a:p>
            <a:pPr indent="0" lvl="0" marL="0" rtl="0" algn="l">
              <a:spcBef>
                <a:spcPts val="0"/>
              </a:spcBef>
              <a:spcAft>
                <a:spcPts val="0"/>
              </a:spcAft>
              <a:buNone/>
            </a:pPr>
            <a:r>
              <a:t/>
            </a:r>
            <a:endParaRPr sz="1800">
              <a:solidFill>
                <a:schemeClr val="lt1"/>
              </a:solidFill>
              <a:latin typeface="Average"/>
              <a:ea typeface="Average"/>
              <a:cs typeface="Average"/>
              <a:sym typeface="Average"/>
            </a:endParaRPr>
          </a:p>
          <a:p>
            <a:pPr indent="0" lvl="0" marL="0" rtl="0" algn="l">
              <a:spcBef>
                <a:spcPts val="0"/>
              </a:spcBef>
              <a:spcAft>
                <a:spcPts val="0"/>
              </a:spcAft>
              <a:buNone/>
            </a:pPr>
            <a:r>
              <a:rPr lang="en" sz="1800">
                <a:solidFill>
                  <a:schemeClr val="lt1"/>
                </a:solidFill>
                <a:latin typeface="Average"/>
                <a:ea typeface="Average"/>
                <a:cs typeface="Average"/>
                <a:sym typeface="Average"/>
              </a:rPr>
              <a:t>Mengsen</a:t>
            </a:r>
            <a:endParaRPr sz="1800">
              <a:solidFill>
                <a:schemeClr val="lt1"/>
              </a:solidFill>
              <a:latin typeface="Average"/>
              <a:ea typeface="Average"/>
              <a:cs typeface="Average"/>
              <a:sym typeface="Average"/>
            </a:endParaRPr>
          </a:p>
          <a:p>
            <a:pPr indent="0" lvl="0" marL="0" rtl="0" algn="l">
              <a:spcBef>
                <a:spcPts val="0"/>
              </a:spcBef>
              <a:spcAft>
                <a:spcPts val="0"/>
              </a:spcAft>
              <a:buNone/>
            </a:pPr>
            <a:r>
              <a:rPr lang="en" sz="1800">
                <a:solidFill>
                  <a:schemeClr val="lt1"/>
                </a:solidFill>
                <a:latin typeface="Average"/>
                <a:ea typeface="Average"/>
                <a:cs typeface="Average"/>
                <a:sym typeface="Average"/>
              </a:rPr>
              <a:t>Dr. Mengsen</a:t>
            </a:r>
            <a:endParaRPr sz="1800">
              <a:solidFill>
                <a:schemeClr val="lt1"/>
              </a:solidFill>
              <a:latin typeface="Average"/>
              <a:ea typeface="Average"/>
              <a:cs typeface="Average"/>
              <a:sym typeface="Average"/>
            </a:endParaRPr>
          </a:p>
          <a:p>
            <a:pPr indent="0" lvl="0" marL="0" rtl="0" algn="l">
              <a:spcBef>
                <a:spcPts val="0"/>
              </a:spcBef>
              <a:spcAft>
                <a:spcPts val="0"/>
              </a:spcAft>
              <a:buNone/>
            </a:pPr>
            <a:r>
              <a:rPr lang="en" sz="1800">
                <a:solidFill>
                  <a:schemeClr val="lt1"/>
                </a:solidFill>
                <a:latin typeface="Average"/>
                <a:ea typeface="Average"/>
                <a:cs typeface="Average"/>
                <a:sym typeface="Average"/>
              </a:rPr>
              <a:t>Dr. Zhang</a:t>
            </a:r>
            <a:endParaRPr sz="1800">
              <a:solidFill>
                <a:schemeClr val="lt1"/>
              </a:solidFill>
              <a:latin typeface="Average"/>
              <a:ea typeface="Average"/>
              <a:cs typeface="Average"/>
              <a:sym typeface="Average"/>
            </a:endParaRPr>
          </a:p>
          <a:p>
            <a:pPr indent="0" lvl="0" marL="0" rtl="0" algn="l">
              <a:spcBef>
                <a:spcPts val="0"/>
              </a:spcBef>
              <a:spcAft>
                <a:spcPts val="0"/>
              </a:spcAft>
              <a:buNone/>
            </a:pPr>
            <a:r>
              <a:rPr lang="en" sz="1800">
                <a:solidFill>
                  <a:schemeClr val="lt1"/>
                </a:solidFill>
                <a:latin typeface="Average"/>
                <a:ea typeface="Average"/>
                <a:cs typeface="Average"/>
                <a:sym typeface="Average"/>
              </a:rPr>
              <a:t>Prof. Zhang</a:t>
            </a:r>
            <a:endParaRPr sz="1800">
              <a:solidFill>
                <a:schemeClr val="lt1"/>
              </a:solidFill>
              <a:latin typeface="Average"/>
              <a:ea typeface="Average"/>
              <a:cs typeface="Average"/>
              <a:sym typeface="Average"/>
            </a:endParaRPr>
          </a:p>
          <a:p>
            <a:pPr indent="0" lvl="0" marL="0" rtl="0" algn="l">
              <a:spcBef>
                <a:spcPts val="0"/>
              </a:spcBef>
              <a:spcAft>
                <a:spcPts val="0"/>
              </a:spcAft>
              <a:buNone/>
            </a:pPr>
            <a:r>
              <a:t/>
            </a:r>
            <a:endParaRPr sz="1800">
              <a:solidFill>
                <a:schemeClr val="lt1"/>
              </a:solidFill>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to get info</a:t>
            </a:r>
            <a:endParaRPr/>
          </a:p>
        </p:txBody>
      </p:sp>
      <p:sp>
        <p:nvSpPr>
          <p:cNvPr id="82" name="Google Shape;82;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latin typeface="Oswald"/>
                <a:ea typeface="Oswald"/>
                <a:cs typeface="Oswald"/>
                <a:sym typeface="Oswald"/>
              </a:rPr>
              <a:t>How to Contact Us:</a:t>
            </a:r>
            <a:endParaRPr b="1">
              <a:latin typeface="Oswald"/>
              <a:ea typeface="Oswald"/>
              <a:cs typeface="Oswald"/>
              <a:sym typeface="Oswald"/>
            </a:endParaRPr>
          </a:p>
          <a:p>
            <a:pPr indent="-317500" lvl="0" marL="457200" rtl="0" algn="l">
              <a:spcBef>
                <a:spcPts val="1200"/>
              </a:spcBef>
              <a:spcAft>
                <a:spcPts val="0"/>
              </a:spcAft>
              <a:buSzPts val="1400"/>
              <a:buChar char="●"/>
            </a:pPr>
            <a:r>
              <a:rPr lang="en"/>
              <a:t>Email: </a:t>
            </a:r>
            <a:endParaRPr/>
          </a:p>
          <a:p>
            <a:pPr indent="-304800" lvl="1" marL="914400" rtl="0" algn="l">
              <a:spcBef>
                <a:spcPts val="0"/>
              </a:spcBef>
              <a:spcAft>
                <a:spcPts val="0"/>
              </a:spcAft>
              <a:buSzPts val="1200"/>
              <a:buChar char="○"/>
            </a:pPr>
            <a:r>
              <a:rPr lang="en" u="sng">
                <a:solidFill>
                  <a:schemeClr val="hlink"/>
                </a:solidFill>
                <a:hlinkClick r:id="rId3"/>
              </a:rPr>
              <a:t>mengsen@msu.edu</a:t>
            </a:r>
            <a:r>
              <a:rPr lang="en"/>
              <a:t> </a:t>
            </a:r>
            <a:endParaRPr/>
          </a:p>
          <a:p>
            <a:pPr indent="-304800" lvl="1" marL="914400" rtl="0" algn="l">
              <a:spcBef>
                <a:spcPts val="0"/>
              </a:spcBef>
              <a:spcAft>
                <a:spcPts val="0"/>
              </a:spcAft>
              <a:buSzPts val="1200"/>
              <a:buChar char="○"/>
            </a:pPr>
            <a:r>
              <a:rPr lang="en" u="sng">
                <a:solidFill>
                  <a:schemeClr val="hlink"/>
                </a:solidFill>
                <a:hlinkClick r:id="rId4"/>
              </a:rPr>
              <a:t>johnprak@msu.edu</a:t>
            </a:r>
            <a:r>
              <a:rPr lang="en"/>
              <a:t> </a:t>
            </a:r>
            <a:endParaRPr/>
          </a:p>
          <a:p>
            <a:pPr indent="-317500" lvl="0" marL="457200" rtl="0" algn="l">
              <a:spcBef>
                <a:spcPts val="0"/>
              </a:spcBef>
              <a:spcAft>
                <a:spcPts val="0"/>
              </a:spcAft>
              <a:buSzPts val="1400"/>
              <a:buChar char="●"/>
            </a:pPr>
            <a:r>
              <a:rPr lang="en"/>
              <a:t>Microsoft Teams</a:t>
            </a:r>
            <a:endParaRPr/>
          </a:p>
          <a:p>
            <a:pPr indent="-317500" lvl="0" marL="457200" rtl="0" algn="l">
              <a:spcBef>
                <a:spcPts val="0"/>
              </a:spcBef>
              <a:spcAft>
                <a:spcPts val="0"/>
              </a:spcAft>
              <a:buSzPts val="1400"/>
              <a:buChar char="●"/>
            </a:pPr>
            <a:r>
              <a:rPr lang="en"/>
              <a:t>Office Hours: </a:t>
            </a:r>
            <a:endParaRPr/>
          </a:p>
          <a:p>
            <a:pPr indent="-304800" lvl="1" marL="914400" rtl="0" algn="l">
              <a:spcBef>
                <a:spcPts val="0"/>
              </a:spcBef>
              <a:spcAft>
                <a:spcPts val="0"/>
              </a:spcAft>
              <a:buSzPts val="1200"/>
              <a:buChar char="○"/>
            </a:pPr>
            <a:r>
              <a:rPr lang="en"/>
              <a:t>When &amp; Where: See most up-to-date info on course calendar: </a:t>
            </a:r>
            <a:r>
              <a:rPr lang="en" u="sng">
                <a:solidFill>
                  <a:schemeClr val="hlink"/>
                </a:solidFill>
                <a:hlinkClick r:id="rId5"/>
              </a:rPr>
              <a:t>https://msu-cmse-courses.github.io/CMSE801-S26/intro.html#office-hours</a:t>
            </a:r>
            <a:r>
              <a:rPr lang="en"/>
              <a:t> </a:t>
            </a:r>
            <a:endParaRPr/>
          </a:p>
          <a:p>
            <a:pPr indent="-304800" lvl="1" marL="914400" rtl="0" algn="l">
              <a:spcBef>
                <a:spcPts val="0"/>
              </a:spcBef>
              <a:spcAft>
                <a:spcPts val="0"/>
              </a:spcAft>
              <a:buSzPts val="1200"/>
              <a:buChar char="○"/>
            </a:pPr>
            <a:r>
              <a:rPr lang="en"/>
              <a:t>Ask for different time</a:t>
            </a:r>
            <a:endParaRPr/>
          </a:p>
        </p:txBody>
      </p:sp>
      <p:sp>
        <p:nvSpPr>
          <p:cNvPr id="83" name="Google Shape;83;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4" name="Google Shape;84;p16"/>
          <p:cNvSpPr txBox="1"/>
          <p:nvPr>
            <p:ph idx="2" type="body"/>
          </p:nvPr>
        </p:nvSpPr>
        <p:spPr>
          <a:xfrm>
            <a:off x="3907150" y="1152475"/>
            <a:ext cx="48324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latin typeface="Oswald"/>
                <a:ea typeface="Oswald"/>
                <a:cs typeface="Oswald"/>
                <a:sym typeface="Oswald"/>
              </a:rPr>
              <a:t>Course Website:</a:t>
            </a:r>
            <a:endParaRPr b="1">
              <a:latin typeface="Oswald"/>
              <a:ea typeface="Oswald"/>
              <a:cs typeface="Oswald"/>
              <a:sym typeface="Oswald"/>
            </a:endParaRPr>
          </a:p>
          <a:p>
            <a:pPr indent="0" lvl="0" marL="0" rtl="0" algn="ctr">
              <a:spcBef>
                <a:spcPts val="1200"/>
              </a:spcBef>
              <a:spcAft>
                <a:spcPts val="0"/>
              </a:spcAft>
              <a:buNone/>
            </a:pPr>
            <a:r>
              <a:rPr b="1" lang="en" u="sng">
                <a:solidFill>
                  <a:schemeClr val="hlink"/>
                </a:solidFill>
                <a:hlinkClick r:id="rId6"/>
              </a:rPr>
              <a:t>https://msu-cmse-courses.github.io/CMSE801-S26</a:t>
            </a:r>
            <a:r>
              <a:rPr b="1" lang="en"/>
              <a:t> </a:t>
            </a:r>
            <a:endParaRPr b="1"/>
          </a:p>
          <a:p>
            <a:pPr indent="0" lvl="0" marL="0" rtl="0" algn="ctr">
              <a:spcBef>
                <a:spcPts val="1200"/>
              </a:spcBef>
              <a:spcAft>
                <a:spcPts val="1200"/>
              </a:spcAft>
              <a:buNone/>
            </a:pPr>
            <a:r>
              <a:rPr b="1" lang="en" u="sng">
                <a:solidFill>
                  <a:schemeClr val="hlink"/>
                </a:solidFill>
                <a:hlinkClick r:id="rId7"/>
              </a:rPr>
              <a:t>msu-cmse-courses.github.io/cmse801-S2</a:t>
            </a:r>
            <a:r>
              <a:rPr b="1" lang="en"/>
              <a:t>6</a:t>
            </a:r>
            <a:endParaRPr/>
          </a:p>
        </p:txBody>
      </p:sp>
      <p:pic>
        <p:nvPicPr>
          <p:cNvPr id="85" name="Google Shape;85;p16"/>
          <p:cNvPicPr preferRelativeResize="0"/>
          <p:nvPr/>
        </p:nvPicPr>
        <p:blipFill>
          <a:blip r:embed="rId8">
            <a:alphaModFix/>
          </a:blip>
          <a:stretch>
            <a:fillRect/>
          </a:stretch>
        </p:blipFill>
        <p:spPr>
          <a:xfrm>
            <a:off x="4281300" y="2058500"/>
            <a:ext cx="4706801" cy="209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COVID &amp; Flu Safety</a:t>
            </a:r>
            <a:endParaRPr/>
          </a:p>
        </p:txBody>
      </p:sp>
      <p:sp>
        <p:nvSpPr>
          <p:cNvPr id="91" name="Google Shape;91;p17"/>
          <p:cNvSpPr txBox="1"/>
          <p:nvPr>
            <p:ph idx="1" type="body"/>
          </p:nvPr>
        </p:nvSpPr>
        <p:spPr>
          <a:xfrm>
            <a:off x="311700" y="1152475"/>
            <a:ext cx="4208700" cy="3892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University Policy​ </a:t>
            </a:r>
            <a:r>
              <a:rPr lang="en" sz="2000" u="sng">
                <a:solidFill>
                  <a:schemeClr val="hlink"/>
                </a:solidFill>
                <a:hlinkClick r:id="rId3"/>
              </a:rPr>
              <a:t>here</a:t>
            </a:r>
            <a:br>
              <a:rPr lang="en" sz="2000"/>
            </a:br>
            <a:endParaRPr sz="2000"/>
          </a:p>
          <a:p>
            <a:pPr indent="-355600" lvl="0" marL="457200" rtl="0" algn="l">
              <a:spcBef>
                <a:spcPts val="0"/>
              </a:spcBef>
              <a:spcAft>
                <a:spcPts val="0"/>
              </a:spcAft>
              <a:buSzPts val="2000"/>
              <a:buChar char="●"/>
            </a:pPr>
            <a:r>
              <a:rPr b="1" lang="en" sz="2000" u="sng"/>
              <a:t>DO NOT</a:t>
            </a:r>
            <a:r>
              <a:rPr lang="en" sz="2000"/>
              <a:t> come to class if you are </a:t>
            </a:r>
            <a:r>
              <a:rPr b="1" lang="en" sz="2000"/>
              <a:t>sick</a:t>
            </a:r>
            <a:r>
              <a:rPr lang="en" sz="2000"/>
              <a:t> or </a:t>
            </a:r>
            <a:r>
              <a:rPr b="1" lang="en" sz="2000"/>
              <a:t>test positive</a:t>
            </a:r>
            <a:r>
              <a:rPr lang="en" sz="2000"/>
              <a:t> for COVID or the Flu</a:t>
            </a:r>
            <a:br>
              <a:rPr lang="en" sz="2000"/>
            </a:br>
            <a:endParaRPr sz="2000"/>
          </a:p>
          <a:p>
            <a:pPr indent="-355600" lvl="0" marL="457200" rtl="0" algn="l">
              <a:spcBef>
                <a:spcPts val="0"/>
              </a:spcBef>
              <a:spcAft>
                <a:spcPts val="0"/>
              </a:spcAft>
              <a:buSzPts val="2000"/>
              <a:buChar char="●"/>
            </a:pPr>
            <a:r>
              <a:rPr b="1" lang="en" sz="2000"/>
              <a:t>Contact Instructor</a:t>
            </a:r>
            <a:r>
              <a:rPr lang="en" sz="2000"/>
              <a:t> ​</a:t>
            </a:r>
            <a:endParaRPr sz="2000"/>
          </a:p>
        </p:txBody>
      </p:sp>
      <p:pic>
        <p:nvPicPr>
          <p:cNvPr id="92" name="Google Shape;92;p17"/>
          <p:cNvPicPr preferRelativeResize="0"/>
          <p:nvPr/>
        </p:nvPicPr>
        <p:blipFill>
          <a:blip r:embed="rId4">
            <a:alphaModFix/>
          </a:blip>
          <a:stretch>
            <a:fillRect/>
          </a:stretch>
        </p:blipFill>
        <p:spPr>
          <a:xfrm>
            <a:off x="4962175" y="436925"/>
            <a:ext cx="3289725" cy="4269651"/>
          </a:xfrm>
          <a:prstGeom prst="rect">
            <a:avLst/>
          </a:prstGeom>
          <a:noFill/>
          <a:ln>
            <a:noFill/>
          </a:ln>
        </p:spPr>
      </p:pic>
      <p:sp>
        <p:nvSpPr>
          <p:cNvPr id="93" name="Google Shape;93;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Three Threads of CMSE 801</a:t>
            </a:r>
            <a:endParaRPr/>
          </a:p>
        </p:txBody>
      </p:sp>
      <p:sp>
        <p:nvSpPr>
          <p:cNvPr id="99" name="Google Shape;99;p18"/>
          <p:cNvSpPr txBox="1"/>
          <p:nvPr>
            <p:ph idx="1" type="body"/>
          </p:nvPr>
        </p:nvSpPr>
        <p:spPr>
          <a:xfrm>
            <a:off x="311700" y="1152475"/>
            <a:ext cx="8334300" cy="3679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Coding in Python:</a:t>
            </a:r>
            <a:r>
              <a:rPr lang="en"/>
              <a:t> </a:t>
            </a:r>
            <a:endParaRPr/>
          </a:p>
          <a:p>
            <a:pPr indent="-317500" lvl="1" marL="914400" rtl="0" algn="l">
              <a:spcBef>
                <a:spcPts val="0"/>
              </a:spcBef>
              <a:spcAft>
                <a:spcPts val="0"/>
              </a:spcAft>
              <a:buSzPts val="1400"/>
              <a:buChar char="○"/>
            </a:pPr>
            <a:r>
              <a:rPr lang="en"/>
              <a:t>By the end of the CMSE 801 you will be a proficient programmer/coder in Python. You should be able to use Python to help you in all of future classes.​</a:t>
            </a:r>
            <a:br>
              <a:rPr lang="en"/>
            </a:br>
            <a:endParaRPr/>
          </a:p>
          <a:p>
            <a:pPr indent="-342900" lvl="0" marL="457200" rtl="0" algn="l">
              <a:spcBef>
                <a:spcPts val="0"/>
              </a:spcBef>
              <a:spcAft>
                <a:spcPts val="0"/>
              </a:spcAft>
              <a:buSzPts val="1800"/>
              <a:buChar char="●"/>
            </a:pPr>
            <a:r>
              <a:rPr b="1" lang="en"/>
              <a:t>Modeling:</a:t>
            </a:r>
            <a:endParaRPr b="1"/>
          </a:p>
          <a:p>
            <a:pPr indent="-317500" lvl="1" marL="914400" rtl="0" algn="l">
              <a:spcBef>
                <a:spcPts val="0"/>
              </a:spcBef>
              <a:spcAft>
                <a:spcPts val="0"/>
              </a:spcAft>
              <a:buSzPts val="1400"/>
              <a:buChar char="○"/>
            </a:pPr>
            <a:r>
              <a:rPr lang="en"/>
              <a:t>You will learn how to build models that allow you to quantitatively solve complex problems in science, engineering and beyond. Combined with the coding aspect of the course, these models will be turned into computational models.​</a:t>
            </a:r>
            <a:br>
              <a:rPr lang="en"/>
            </a:br>
            <a:endParaRPr/>
          </a:p>
          <a:p>
            <a:pPr indent="-342900" lvl="0" marL="457200" rtl="0" algn="l">
              <a:spcBef>
                <a:spcPts val="0"/>
              </a:spcBef>
              <a:spcAft>
                <a:spcPts val="0"/>
              </a:spcAft>
              <a:buSzPts val="1800"/>
              <a:buChar char="●"/>
            </a:pPr>
            <a:r>
              <a:rPr b="1" lang="en"/>
              <a:t>Data Analysis:</a:t>
            </a:r>
            <a:endParaRPr b="1"/>
          </a:p>
          <a:p>
            <a:pPr indent="-317500" lvl="1" marL="914400" rtl="0" algn="l">
              <a:spcBef>
                <a:spcPts val="0"/>
              </a:spcBef>
              <a:spcAft>
                <a:spcPts val="0"/>
              </a:spcAft>
              <a:buSzPts val="1400"/>
              <a:buChar char="○"/>
            </a:pPr>
            <a:r>
              <a:rPr lang="en"/>
              <a:t>You will learn how to handle real-world data: find it, analyze it, and draw quantitative conclusions from it. You will use your coding skills for this analysis and build models that reveal deeper insights into the data. ​</a:t>
            </a:r>
            <a:endParaRPr/>
          </a:p>
        </p:txBody>
      </p:sp>
      <p:sp>
        <p:nvSpPr>
          <p:cNvPr id="100" name="Google Shape;100;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Structure</a:t>
            </a:r>
            <a:endParaRPr/>
          </a:p>
        </p:txBody>
      </p:sp>
      <p:sp>
        <p:nvSpPr>
          <p:cNvPr id="106" name="Google Shape;106;p19"/>
          <p:cNvSpPr txBox="1"/>
          <p:nvPr>
            <p:ph idx="1" type="body"/>
          </p:nvPr>
        </p:nvSpPr>
        <p:spPr>
          <a:xfrm>
            <a:off x="311700" y="957275"/>
            <a:ext cx="8630700" cy="39735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sz="1400"/>
              <a:t>This course will require a lot of work. There is a huge amount to learn. </a:t>
            </a:r>
            <a:endParaRPr sz="1400"/>
          </a:p>
          <a:p>
            <a:pPr indent="-317500" lvl="1" marL="914400" rtl="0" algn="l">
              <a:lnSpc>
                <a:spcPct val="150000"/>
              </a:lnSpc>
              <a:spcBef>
                <a:spcPts val="0"/>
              </a:spcBef>
              <a:spcAft>
                <a:spcPts val="0"/>
              </a:spcAft>
              <a:buSzPts val="1400"/>
              <a:buChar char="○"/>
            </a:pPr>
            <a:r>
              <a:rPr lang="en" u="sng">
                <a:solidFill>
                  <a:schemeClr val="hlink"/>
                </a:solidFill>
                <a:hlinkClick r:id="rId3"/>
              </a:rPr>
              <a:t>Link to course schedule</a:t>
            </a:r>
            <a:endParaRPr/>
          </a:p>
          <a:p>
            <a:pPr indent="-317500" lvl="0" marL="457200" rtl="0" algn="l">
              <a:lnSpc>
                <a:spcPct val="150000"/>
              </a:lnSpc>
              <a:spcBef>
                <a:spcPts val="0"/>
              </a:spcBef>
              <a:spcAft>
                <a:spcPts val="0"/>
              </a:spcAft>
              <a:buSzPts val="1400"/>
              <a:buChar char="●"/>
            </a:pPr>
            <a:r>
              <a:rPr b="1" lang="en" sz="1400" u="sng"/>
              <a:t>Flipped classroom:</a:t>
            </a:r>
            <a:r>
              <a:rPr lang="en" sz="1400"/>
              <a:t> </a:t>
            </a:r>
            <a:endParaRPr sz="1400"/>
          </a:p>
          <a:p>
            <a:pPr indent="-317500" lvl="1" marL="914400" rtl="0" algn="l">
              <a:lnSpc>
                <a:spcPct val="150000"/>
              </a:lnSpc>
              <a:spcBef>
                <a:spcPts val="0"/>
              </a:spcBef>
              <a:spcAft>
                <a:spcPts val="0"/>
              </a:spcAft>
              <a:buSzPts val="1400"/>
              <a:buChar char="○"/>
            </a:pPr>
            <a:r>
              <a:rPr b="1" lang="en"/>
              <a:t>P</a:t>
            </a:r>
            <a:r>
              <a:rPr b="1" lang="en"/>
              <a:t>re-class assignments</a:t>
            </a:r>
            <a:r>
              <a:rPr lang="en"/>
              <a:t>, due the day before class at </a:t>
            </a:r>
            <a:r>
              <a:rPr b="1" lang="en"/>
              <a:t>5PM</a:t>
            </a:r>
            <a:r>
              <a:rPr lang="en"/>
              <a:t> </a:t>
            </a:r>
            <a:endParaRPr/>
          </a:p>
          <a:p>
            <a:pPr indent="-317500" lvl="1" marL="914400" rtl="0" algn="l">
              <a:lnSpc>
                <a:spcPct val="150000"/>
              </a:lnSpc>
              <a:spcBef>
                <a:spcPts val="0"/>
              </a:spcBef>
              <a:spcAft>
                <a:spcPts val="0"/>
              </a:spcAft>
              <a:buSzPts val="1400"/>
              <a:buChar char="○"/>
            </a:pPr>
            <a:r>
              <a:rPr b="1" lang="en"/>
              <a:t>In-class assignments</a:t>
            </a:r>
            <a:r>
              <a:rPr lang="en"/>
              <a:t> done during class, as part of a group.  </a:t>
            </a:r>
            <a:endParaRPr/>
          </a:p>
          <a:p>
            <a:pPr indent="-317500" lvl="0" marL="457200" rtl="0" algn="l">
              <a:lnSpc>
                <a:spcPct val="150000"/>
              </a:lnSpc>
              <a:spcBef>
                <a:spcPts val="0"/>
              </a:spcBef>
              <a:spcAft>
                <a:spcPts val="0"/>
              </a:spcAft>
              <a:buSzPts val="1400"/>
              <a:buChar char="●"/>
            </a:pPr>
            <a:r>
              <a:rPr b="1" lang="en" sz="1400" u="sng"/>
              <a:t>HOMEWORK:</a:t>
            </a:r>
            <a:r>
              <a:rPr b="1" lang="en" sz="1400"/>
              <a:t> </a:t>
            </a:r>
            <a:r>
              <a:rPr lang="en" sz="1400"/>
              <a:t>roughly every few weeks. </a:t>
            </a:r>
            <a:endParaRPr sz="1400"/>
          </a:p>
          <a:p>
            <a:pPr indent="-317500" lvl="0" marL="457200" rtl="0" algn="l">
              <a:lnSpc>
                <a:spcPct val="150000"/>
              </a:lnSpc>
              <a:spcBef>
                <a:spcPts val="0"/>
              </a:spcBef>
              <a:spcAft>
                <a:spcPts val="0"/>
              </a:spcAft>
              <a:buSzPts val="1400"/>
              <a:buChar char="●"/>
            </a:pPr>
            <a:r>
              <a:rPr b="1" lang="en" sz="1400" u="sng"/>
              <a:t>EXAMS:</a:t>
            </a:r>
            <a:r>
              <a:rPr b="1" lang="en" sz="1400"/>
              <a:t> FOUR quizzes</a:t>
            </a:r>
            <a:r>
              <a:rPr lang="en" sz="1400"/>
              <a:t> based on class assignments every few weeks​</a:t>
            </a:r>
            <a:endParaRPr sz="1400"/>
          </a:p>
          <a:p>
            <a:pPr indent="-317500" lvl="0" marL="457200" rtl="0" algn="l">
              <a:lnSpc>
                <a:spcPct val="150000"/>
              </a:lnSpc>
              <a:spcBef>
                <a:spcPts val="0"/>
              </a:spcBef>
              <a:spcAft>
                <a:spcPts val="0"/>
              </a:spcAft>
              <a:buSzPts val="1400"/>
              <a:buChar char="●"/>
            </a:pPr>
            <a:r>
              <a:rPr b="1" lang="en" sz="1400" u="sng"/>
              <a:t>FINAL PROJECT</a:t>
            </a:r>
            <a:r>
              <a:rPr b="1" lang="en" sz="1400"/>
              <a:t>:</a:t>
            </a:r>
            <a:r>
              <a:rPr lang="en" sz="1400"/>
              <a:t> presented at the end of the semester. We will plan your projects throughout the semester​</a:t>
            </a:r>
            <a:endParaRPr sz="1400"/>
          </a:p>
          <a:p>
            <a:pPr indent="-317500" lvl="0" marL="457200" rtl="0" algn="l">
              <a:lnSpc>
                <a:spcPct val="150000"/>
              </a:lnSpc>
              <a:spcBef>
                <a:spcPts val="0"/>
              </a:spcBef>
              <a:spcAft>
                <a:spcPts val="0"/>
              </a:spcAft>
              <a:buSzPts val="1400"/>
              <a:buChar char="●"/>
            </a:pPr>
            <a:r>
              <a:rPr lang="en" sz="1400"/>
              <a:t>The only way to learn to code is to code. We will code in class every day. We will provide opportunities for additional practice.​</a:t>
            </a:r>
            <a:endParaRPr sz="1400"/>
          </a:p>
        </p:txBody>
      </p:sp>
      <p:sp>
        <p:nvSpPr>
          <p:cNvPr id="107" name="Google Shape;107;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Notes about Flipped Classroom</a:t>
            </a:r>
            <a:endParaRPr/>
          </a:p>
        </p:txBody>
      </p:sp>
      <p:sp>
        <p:nvSpPr>
          <p:cNvPr id="113" name="Google Shape;113;p20"/>
          <p:cNvSpPr txBox="1"/>
          <p:nvPr>
            <p:ph idx="1" type="body"/>
          </p:nvPr>
        </p:nvSpPr>
        <p:spPr>
          <a:xfrm>
            <a:off x="311700" y="1152475"/>
            <a:ext cx="38505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lnSpc>
                <a:spcPct val="150000"/>
              </a:lnSpc>
              <a:spcBef>
                <a:spcPts val="0"/>
              </a:spcBef>
              <a:spcAft>
                <a:spcPts val="0"/>
              </a:spcAft>
              <a:buSzPct val="100000"/>
              <a:buChar char="●"/>
            </a:pPr>
            <a:r>
              <a:rPr lang="en"/>
              <a:t>The flipped classroom environment may like feel</a:t>
            </a:r>
            <a:r>
              <a:rPr lang="en">
                <a:solidFill>
                  <a:schemeClr val="accent5"/>
                </a:solidFill>
              </a:rPr>
              <a:t> very different </a:t>
            </a:r>
            <a:r>
              <a:rPr lang="en"/>
              <a:t>than what you may be used to</a:t>
            </a:r>
            <a:endParaRPr/>
          </a:p>
          <a:p>
            <a:pPr indent="-334327" lvl="0" marL="457200" rtl="0" algn="l">
              <a:lnSpc>
                <a:spcPct val="150000"/>
              </a:lnSpc>
              <a:spcBef>
                <a:spcPts val="0"/>
              </a:spcBef>
              <a:spcAft>
                <a:spcPts val="0"/>
              </a:spcAft>
              <a:buSzPct val="100000"/>
              <a:buChar char="●"/>
            </a:pPr>
            <a:r>
              <a:rPr lang="en"/>
              <a:t>Learning takes place in a </a:t>
            </a:r>
            <a:r>
              <a:rPr lang="en">
                <a:solidFill>
                  <a:schemeClr val="accent5"/>
                </a:solidFill>
              </a:rPr>
              <a:t>collaborative manner</a:t>
            </a:r>
            <a:r>
              <a:rPr lang="en"/>
              <a:t> in which </a:t>
            </a:r>
            <a:r>
              <a:rPr b="1" lang="en"/>
              <a:t>you learn by doing</a:t>
            </a:r>
            <a:r>
              <a:rPr lang="en"/>
              <a:t>, using knowledge you acquire before coming to class​</a:t>
            </a:r>
            <a:endParaRPr/>
          </a:p>
          <a:p>
            <a:pPr indent="-334327" lvl="0" marL="457200" rtl="0" algn="l">
              <a:lnSpc>
                <a:spcPct val="150000"/>
              </a:lnSpc>
              <a:spcBef>
                <a:spcPts val="0"/>
              </a:spcBef>
              <a:spcAft>
                <a:spcPts val="0"/>
              </a:spcAft>
              <a:buSzPct val="100000"/>
              <a:buChar char="●"/>
            </a:pPr>
            <a:r>
              <a:rPr lang="en"/>
              <a:t>Pre-class assignments are </a:t>
            </a:r>
            <a:r>
              <a:rPr b="1" lang="en">
                <a:solidFill>
                  <a:schemeClr val="accent5"/>
                </a:solidFill>
              </a:rPr>
              <a:t>critical</a:t>
            </a:r>
            <a:r>
              <a:rPr lang="en"/>
              <a:t> for maximizing your in-class experience​</a:t>
            </a:r>
            <a:endParaRPr/>
          </a:p>
        </p:txBody>
      </p:sp>
      <p:sp>
        <p:nvSpPr>
          <p:cNvPr id="114" name="Google Shape;114;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115" name="Google Shape;115;p20"/>
          <p:cNvPicPr preferRelativeResize="0"/>
          <p:nvPr/>
        </p:nvPicPr>
        <p:blipFill>
          <a:blip r:embed="rId3">
            <a:alphaModFix/>
          </a:blip>
          <a:stretch>
            <a:fillRect/>
          </a:stretch>
        </p:blipFill>
        <p:spPr>
          <a:xfrm>
            <a:off x="4681675" y="2571745"/>
            <a:ext cx="4357275" cy="2341150"/>
          </a:xfrm>
          <a:prstGeom prst="rect">
            <a:avLst/>
          </a:prstGeom>
          <a:noFill/>
          <a:ln>
            <a:noFill/>
          </a:ln>
        </p:spPr>
      </p:pic>
      <p:pic>
        <p:nvPicPr>
          <p:cNvPr id="116" name="Google Shape;116;p20"/>
          <p:cNvPicPr preferRelativeResize="0"/>
          <p:nvPr/>
        </p:nvPicPr>
        <p:blipFill>
          <a:blip r:embed="rId4">
            <a:alphaModFix/>
          </a:blip>
          <a:stretch>
            <a:fillRect/>
          </a:stretch>
        </p:blipFill>
        <p:spPr>
          <a:xfrm>
            <a:off x="4681675" y="244394"/>
            <a:ext cx="4357275" cy="22319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Interactive engagement leads to more learning!</a:t>
            </a:r>
            <a:endParaRPr/>
          </a:p>
        </p:txBody>
      </p:sp>
      <p:sp>
        <p:nvSpPr>
          <p:cNvPr id="122" name="Google Shape;122;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123" name="Google Shape;123;p21"/>
          <p:cNvPicPr preferRelativeResize="0"/>
          <p:nvPr/>
        </p:nvPicPr>
        <p:blipFill>
          <a:blip r:embed="rId3">
            <a:alphaModFix/>
          </a:blip>
          <a:stretch>
            <a:fillRect/>
          </a:stretch>
        </p:blipFill>
        <p:spPr>
          <a:xfrm>
            <a:off x="1882875" y="1158525"/>
            <a:ext cx="5378252" cy="3276675"/>
          </a:xfrm>
          <a:prstGeom prst="rect">
            <a:avLst/>
          </a:prstGeom>
          <a:noFill/>
          <a:ln>
            <a:noFill/>
          </a:ln>
        </p:spPr>
      </p:pic>
      <p:sp>
        <p:nvSpPr>
          <p:cNvPr id="124" name="Google Shape;124;p21"/>
          <p:cNvSpPr txBox="1"/>
          <p:nvPr/>
        </p:nvSpPr>
        <p:spPr>
          <a:xfrm>
            <a:off x="311700" y="4435200"/>
            <a:ext cx="8094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3"/>
                </a:solidFill>
                <a:latin typeface="Average"/>
                <a:ea typeface="Average"/>
                <a:cs typeface="Average"/>
                <a:sym typeface="Average"/>
              </a:rPr>
              <a:t>Hake, “Interactive-engagement versus traditional methods: A six-thousand-student survey .…” American Journal of Physics. 1998.</a:t>
            </a:r>
            <a:endParaRPr sz="1300">
              <a:solidFill>
                <a:schemeClr val="accent3"/>
              </a:solidFill>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Interactive engagement leads to more learning!</a:t>
            </a:r>
            <a:endParaRPr/>
          </a:p>
        </p:txBody>
      </p:sp>
      <p:sp>
        <p:nvSpPr>
          <p:cNvPr id="130" name="Google Shape;130;p22"/>
          <p:cNvSpPr txBox="1"/>
          <p:nvPr>
            <p:ph idx="1" type="body"/>
          </p:nvPr>
        </p:nvSpPr>
        <p:spPr>
          <a:xfrm>
            <a:off x="311700" y="4528100"/>
            <a:ext cx="8449200" cy="4938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SzPts val="440"/>
              <a:buNone/>
            </a:pPr>
            <a:r>
              <a:rPr lang="en" sz="1320"/>
              <a:t>Active-engagement vs. traditional instruction for improving students’ conceptual understanding of basic physics concepts (taken from Laws et al., 1999)</a:t>
            </a:r>
            <a:endParaRPr sz="1320"/>
          </a:p>
        </p:txBody>
      </p:sp>
      <p:pic>
        <p:nvPicPr>
          <p:cNvPr id="131" name="Google Shape;131;p22"/>
          <p:cNvPicPr preferRelativeResize="0"/>
          <p:nvPr/>
        </p:nvPicPr>
        <p:blipFill>
          <a:blip r:embed="rId3">
            <a:alphaModFix/>
          </a:blip>
          <a:stretch>
            <a:fillRect/>
          </a:stretch>
        </p:blipFill>
        <p:spPr>
          <a:xfrm>
            <a:off x="1953000" y="1284400"/>
            <a:ext cx="5800725" cy="3171825"/>
          </a:xfrm>
          <a:prstGeom prst="rect">
            <a:avLst/>
          </a:prstGeom>
          <a:noFill/>
          <a:ln>
            <a:noFill/>
          </a:ln>
        </p:spPr>
      </p:pic>
      <p:sp>
        <p:nvSpPr>
          <p:cNvPr id="132" name="Google Shape;132;p2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Getting the most out of the flipped classroom​</a:t>
            </a:r>
            <a:endParaRPr/>
          </a:p>
        </p:txBody>
      </p:sp>
      <p:sp>
        <p:nvSpPr>
          <p:cNvPr id="138" name="Google Shape;138;p23"/>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solidFill>
                  <a:schemeClr val="accent5"/>
                </a:solidFill>
              </a:rPr>
              <a:t>You are responsible</a:t>
            </a:r>
            <a:r>
              <a:rPr lang="en"/>
              <a:t> </a:t>
            </a:r>
            <a:r>
              <a:rPr lang="en">
                <a:solidFill>
                  <a:schemeClr val="lt2"/>
                </a:solidFill>
              </a:rPr>
              <a:t>for monitoring your own learning — only you can ensure that you are mastering the content!​</a:t>
            </a:r>
            <a:endParaRPr>
              <a:solidFill>
                <a:schemeClr val="lt2"/>
              </a:solidFill>
            </a:endParaRPr>
          </a:p>
          <a:p>
            <a:pPr indent="-342900" lvl="1" marL="914400" rtl="0" algn="l">
              <a:lnSpc>
                <a:spcPct val="150000"/>
              </a:lnSpc>
              <a:spcBef>
                <a:spcPts val="0"/>
              </a:spcBef>
              <a:spcAft>
                <a:spcPts val="0"/>
              </a:spcAft>
              <a:buClr>
                <a:schemeClr val="lt2"/>
              </a:buClr>
              <a:buSzPts val="1800"/>
              <a:buChar char="○"/>
            </a:pPr>
            <a:r>
              <a:rPr lang="en" sz="1800">
                <a:solidFill>
                  <a:schemeClr val="lt2"/>
                </a:solidFill>
              </a:rPr>
              <a:t>This goes for In Class Participation and Pre-class Preparation In particular​</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a:solidFill>
                  <a:schemeClr val="lt2"/>
                </a:solidFill>
              </a:rPr>
              <a:t>You’ll learn more about flipped classrooms in the Day 2 pre-class assignment!​</a:t>
            </a:r>
            <a:endParaRPr>
              <a:solidFill>
                <a:schemeClr val="lt2"/>
              </a:solidFill>
            </a:endParaRPr>
          </a:p>
        </p:txBody>
      </p:sp>
      <p:sp>
        <p:nvSpPr>
          <p:cNvPr id="139" name="Google Shape;139;p2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1262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latin typeface="Average"/>
                <a:ea typeface="Average"/>
                <a:cs typeface="Average"/>
                <a:sym typeface="Average"/>
              </a:rPr>
              <a:t>Grades</a:t>
            </a:r>
            <a:endParaRPr sz="1600">
              <a:latin typeface="Average"/>
              <a:ea typeface="Average"/>
              <a:cs typeface="Average"/>
              <a:sym typeface="Average"/>
            </a:endParaRPr>
          </a:p>
        </p:txBody>
      </p:sp>
      <p:sp>
        <p:nvSpPr>
          <p:cNvPr id="145" name="Google Shape;145;p2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600">
                <a:solidFill>
                  <a:schemeClr val="accent3"/>
                </a:solidFill>
              </a:rPr>
              <a:t>‹#›</a:t>
            </a:fld>
            <a:endParaRPr sz="1600">
              <a:solidFill>
                <a:schemeClr val="accent3"/>
              </a:solidFill>
            </a:endParaRPr>
          </a:p>
        </p:txBody>
      </p:sp>
      <p:graphicFrame>
        <p:nvGraphicFramePr>
          <p:cNvPr id="146" name="Google Shape;146;p24"/>
          <p:cNvGraphicFramePr/>
          <p:nvPr/>
        </p:nvGraphicFramePr>
        <p:xfrm>
          <a:off x="423000" y="569125"/>
          <a:ext cx="3000000" cy="3000000"/>
        </p:xfrm>
        <a:graphic>
          <a:graphicData uri="http://schemas.openxmlformats.org/drawingml/2006/table">
            <a:tbl>
              <a:tblPr>
                <a:noFill/>
                <a:tableStyleId>{AB6D9737-5519-46F4-808F-6E1F358B740E}</a:tableStyleId>
              </a:tblPr>
              <a:tblGrid>
                <a:gridCol w="1364350"/>
                <a:gridCol w="1364350"/>
                <a:gridCol w="1364350"/>
                <a:gridCol w="1364350"/>
                <a:gridCol w="1364350"/>
                <a:gridCol w="1364350"/>
              </a:tblGrid>
              <a:tr h="738050">
                <a:tc>
                  <a:txBody>
                    <a:bodyPr/>
                    <a:lstStyle/>
                    <a:p>
                      <a:pPr indent="0" lvl="0" marL="38100" marR="38100" rtl="0" algn="l">
                        <a:lnSpc>
                          <a:spcPct val="115000"/>
                        </a:lnSpc>
                        <a:spcBef>
                          <a:spcPts val="0"/>
                        </a:spcBef>
                        <a:spcAft>
                          <a:spcPts val="0"/>
                        </a:spcAft>
                        <a:buNone/>
                      </a:pPr>
                      <a:r>
                        <a:rPr lang="en" sz="1200">
                          <a:solidFill>
                            <a:srgbClr val="FFFFFF"/>
                          </a:solidFill>
                          <a:latin typeface="Average"/>
                          <a:ea typeface="Average"/>
                          <a:cs typeface="Average"/>
                          <a:sym typeface="Average"/>
                        </a:rPr>
                        <a:t>​</a:t>
                      </a:r>
                      <a:endParaRPr sz="1200">
                        <a:solidFill>
                          <a:srgbClr val="FFFFFF"/>
                        </a:solidFill>
                        <a:latin typeface="Average"/>
                        <a:ea typeface="Average"/>
                        <a:cs typeface="Average"/>
                        <a:sym typeface="Averag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c>
                  <a:txBody>
                    <a:bodyPr/>
                    <a:lstStyle/>
                    <a:p>
                      <a:pPr indent="0" lvl="0" marL="38100" marR="38100" rtl="0" algn="ctr">
                        <a:lnSpc>
                          <a:spcPct val="117857"/>
                        </a:lnSpc>
                        <a:spcBef>
                          <a:spcPts val="0"/>
                        </a:spcBef>
                        <a:spcAft>
                          <a:spcPts val="0"/>
                        </a:spcAft>
                        <a:buNone/>
                      </a:pPr>
                      <a:r>
                        <a:rPr lang="en" sz="1200">
                          <a:solidFill>
                            <a:srgbClr val="FFFFFF"/>
                          </a:solidFill>
                          <a:latin typeface="Average"/>
                          <a:ea typeface="Average"/>
                          <a:cs typeface="Average"/>
                          <a:sym typeface="Average"/>
                        </a:rPr>
                        <a:t>Participation,​</a:t>
                      </a:r>
                      <a:endParaRPr sz="1200">
                        <a:solidFill>
                          <a:srgbClr val="FFFFFF"/>
                        </a:solidFill>
                        <a:latin typeface="Average"/>
                        <a:ea typeface="Average"/>
                        <a:cs typeface="Average"/>
                        <a:sym typeface="Average"/>
                      </a:endParaRPr>
                    </a:p>
                    <a:p>
                      <a:pPr indent="0" lvl="0" marL="38100" marR="38100" rtl="0" algn="ctr">
                        <a:lnSpc>
                          <a:spcPct val="117857"/>
                        </a:lnSpc>
                        <a:spcBef>
                          <a:spcPts val="0"/>
                        </a:spcBef>
                        <a:spcAft>
                          <a:spcPts val="0"/>
                        </a:spcAft>
                        <a:buNone/>
                      </a:pPr>
                      <a:r>
                        <a:rPr lang="en" sz="1200">
                          <a:solidFill>
                            <a:srgbClr val="FFFFFF"/>
                          </a:solidFill>
                          <a:latin typeface="Average"/>
                          <a:ea typeface="Average"/>
                          <a:cs typeface="Average"/>
                          <a:sym typeface="Average"/>
                        </a:rPr>
                        <a:t>attendance,​</a:t>
                      </a:r>
                      <a:endParaRPr sz="1200">
                        <a:solidFill>
                          <a:srgbClr val="FFFFFF"/>
                        </a:solidFill>
                        <a:latin typeface="Average"/>
                        <a:ea typeface="Average"/>
                        <a:cs typeface="Average"/>
                        <a:sym typeface="Average"/>
                      </a:endParaRPr>
                    </a:p>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in-class assignments​</a:t>
                      </a:r>
                      <a:endParaRPr sz="1200">
                        <a:solidFill>
                          <a:srgbClr val="FFFFFF"/>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c>
                  <a:txBody>
                    <a:bodyPr/>
                    <a:lstStyle/>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Pre-class assignments​</a:t>
                      </a:r>
                      <a:endParaRPr sz="1200">
                        <a:solidFill>
                          <a:srgbClr val="FFFFFF"/>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c>
                  <a:txBody>
                    <a:bodyPr/>
                    <a:lstStyle/>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Exam</a:t>
                      </a:r>
                      <a:endParaRPr sz="1200">
                        <a:solidFill>
                          <a:srgbClr val="FFFFFF"/>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c>
                  <a:txBody>
                    <a:bodyPr/>
                    <a:lstStyle/>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Homework (4)​</a:t>
                      </a:r>
                      <a:endParaRPr sz="1200">
                        <a:solidFill>
                          <a:srgbClr val="FFFFFF"/>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c>
                  <a:txBody>
                    <a:bodyPr/>
                    <a:lstStyle/>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Semester project​</a:t>
                      </a:r>
                      <a:endParaRPr sz="1200">
                        <a:solidFill>
                          <a:srgbClr val="FFFFFF"/>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4780AA"/>
                      </a:solidFill>
                      <a:prstDash val="solid"/>
                      <a:round/>
                      <a:headEnd len="sm" w="sm" type="none"/>
                      <a:tailEnd len="sm" w="sm" type="none"/>
                    </a:lnB>
                    <a:solidFill>
                      <a:srgbClr val="A4C2F4"/>
                    </a:solidFill>
                  </a:tcPr>
                </a:tc>
              </a:tr>
              <a:tr h="504700">
                <a:tc>
                  <a:txBody>
                    <a:bodyPr/>
                    <a:lstStyle/>
                    <a:p>
                      <a:pPr indent="0" lvl="0" marL="38100" marR="38100" rtl="0" algn="ctr">
                        <a:lnSpc>
                          <a:spcPct val="115000"/>
                        </a:lnSpc>
                        <a:spcBef>
                          <a:spcPts val="0"/>
                        </a:spcBef>
                        <a:spcAft>
                          <a:spcPts val="0"/>
                        </a:spcAft>
                        <a:buNone/>
                      </a:pPr>
                      <a:r>
                        <a:rPr lang="en" sz="1200">
                          <a:solidFill>
                            <a:srgbClr val="FFFFFF"/>
                          </a:solidFill>
                          <a:latin typeface="Average"/>
                          <a:ea typeface="Average"/>
                          <a:cs typeface="Average"/>
                          <a:sym typeface="Average"/>
                        </a:rPr>
                        <a:t>Percentage​</a:t>
                      </a:r>
                      <a:endParaRPr sz="1200">
                        <a:solidFill>
                          <a:srgbClr val="FFFFFF"/>
                        </a:solidFill>
                        <a:latin typeface="Average"/>
                        <a:ea typeface="Average"/>
                        <a:cs typeface="Average"/>
                        <a:sym typeface="Averag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38100" marR="38100" rtl="0" algn="ctr">
                        <a:lnSpc>
                          <a:spcPct val="115000"/>
                        </a:lnSpc>
                        <a:spcBef>
                          <a:spcPts val="0"/>
                        </a:spcBef>
                        <a:spcAft>
                          <a:spcPts val="0"/>
                        </a:spcAft>
                        <a:buNone/>
                      </a:pPr>
                      <a:r>
                        <a:rPr lang="en" sz="1200">
                          <a:solidFill>
                            <a:srgbClr val="858585"/>
                          </a:solidFill>
                          <a:latin typeface="Average"/>
                          <a:ea typeface="Average"/>
                          <a:cs typeface="Average"/>
                          <a:sym typeface="Average"/>
                        </a:rPr>
                        <a:t>15%​</a:t>
                      </a:r>
                      <a:endParaRPr sz="12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38100" rtl="0" algn="ctr">
                        <a:lnSpc>
                          <a:spcPct val="115000"/>
                        </a:lnSpc>
                        <a:spcBef>
                          <a:spcPts val="0"/>
                        </a:spcBef>
                        <a:spcAft>
                          <a:spcPts val="0"/>
                        </a:spcAft>
                        <a:buNone/>
                      </a:pPr>
                      <a:r>
                        <a:rPr lang="en" sz="1200">
                          <a:solidFill>
                            <a:srgbClr val="858585"/>
                          </a:solidFill>
                          <a:latin typeface="Average"/>
                          <a:ea typeface="Average"/>
                          <a:cs typeface="Average"/>
                          <a:sym typeface="Average"/>
                        </a:rPr>
                        <a:t>15%​</a:t>
                      </a:r>
                      <a:endParaRPr sz="12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38100" rtl="0" algn="ctr">
                        <a:lnSpc>
                          <a:spcPct val="115000"/>
                        </a:lnSpc>
                        <a:spcBef>
                          <a:spcPts val="0"/>
                        </a:spcBef>
                        <a:spcAft>
                          <a:spcPts val="0"/>
                        </a:spcAft>
                        <a:buNone/>
                      </a:pPr>
                      <a:r>
                        <a:rPr lang="en" sz="1200">
                          <a:solidFill>
                            <a:srgbClr val="858585"/>
                          </a:solidFill>
                          <a:latin typeface="Average"/>
                          <a:ea typeface="Average"/>
                          <a:cs typeface="Average"/>
                          <a:sym typeface="Average"/>
                        </a:rPr>
                        <a:t>20%​</a:t>
                      </a:r>
                      <a:endParaRPr sz="12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38100" rtl="0" algn="ctr">
                        <a:lnSpc>
                          <a:spcPct val="115000"/>
                        </a:lnSpc>
                        <a:spcBef>
                          <a:spcPts val="0"/>
                        </a:spcBef>
                        <a:spcAft>
                          <a:spcPts val="0"/>
                        </a:spcAft>
                        <a:buNone/>
                      </a:pPr>
                      <a:r>
                        <a:rPr lang="en" sz="1200">
                          <a:solidFill>
                            <a:srgbClr val="858585"/>
                          </a:solidFill>
                          <a:latin typeface="Average"/>
                          <a:ea typeface="Average"/>
                          <a:cs typeface="Average"/>
                          <a:sym typeface="Average"/>
                        </a:rPr>
                        <a:t>25%​</a:t>
                      </a:r>
                      <a:endParaRPr sz="12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38100" rtl="0" algn="ctr">
                        <a:lnSpc>
                          <a:spcPct val="115000"/>
                        </a:lnSpc>
                        <a:spcBef>
                          <a:spcPts val="0"/>
                        </a:spcBef>
                        <a:spcAft>
                          <a:spcPts val="0"/>
                        </a:spcAft>
                        <a:buNone/>
                      </a:pPr>
                      <a:r>
                        <a:rPr lang="en" sz="1200">
                          <a:solidFill>
                            <a:srgbClr val="858585"/>
                          </a:solidFill>
                          <a:latin typeface="Average"/>
                          <a:ea typeface="Average"/>
                          <a:cs typeface="Average"/>
                          <a:sym typeface="Average"/>
                        </a:rPr>
                        <a:t>25%​</a:t>
                      </a:r>
                      <a:endParaRPr sz="12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47" name="Google Shape;147;p24"/>
          <p:cNvGraphicFramePr/>
          <p:nvPr/>
        </p:nvGraphicFramePr>
        <p:xfrm>
          <a:off x="3861300" y="2323300"/>
          <a:ext cx="3000000" cy="3000000"/>
        </p:xfrm>
        <a:graphic>
          <a:graphicData uri="http://schemas.openxmlformats.org/drawingml/2006/table">
            <a:tbl>
              <a:tblPr>
                <a:noFill/>
                <a:tableStyleId>{AB6D9737-5519-46F4-808F-6E1F358B740E}</a:tableStyleId>
              </a:tblPr>
              <a:tblGrid>
                <a:gridCol w="396425"/>
                <a:gridCol w="598525"/>
              </a:tblGrid>
              <a:tr h="414800">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4.0​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&gt;90%​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3.5​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&gt;85%​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3.0​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&gt;80%​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2.5​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&gt;75%​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2.0​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&gt;70%​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1.5​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&gt;65%​</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1.0​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&gt;60%​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r h="286425">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0.0​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c>
                  <a:txBody>
                    <a:bodyPr/>
                    <a:lstStyle/>
                    <a:p>
                      <a:pPr indent="0" lvl="0" marL="38100" marR="38100" rtl="0" algn="l">
                        <a:lnSpc>
                          <a:spcPct val="115000"/>
                        </a:lnSpc>
                        <a:spcBef>
                          <a:spcPts val="0"/>
                        </a:spcBef>
                        <a:spcAft>
                          <a:spcPts val="0"/>
                        </a:spcAft>
                        <a:buNone/>
                      </a:pPr>
                      <a:r>
                        <a:rPr lang="en" sz="800">
                          <a:solidFill>
                            <a:srgbClr val="858585"/>
                          </a:solidFill>
                          <a:latin typeface="Average"/>
                          <a:ea typeface="Average"/>
                          <a:cs typeface="Average"/>
                          <a:sym typeface="Average"/>
                        </a:rPr>
                        <a:t>&lt;60%​</a:t>
                      </a:r>
                      <a:endParaRPr sz="8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tcPr>
                </a:tc>
              </a:tr>
            </a:tbl>
          </a:graphicData>
        </a:graphic>
      </p:graphicFrame>
      <p:sp>
        <p:nvSpPr>
          <p:cNvPr id="148" name="Google Shape;148;p24"/>
          <p:cNvSpPr/>
          <p:nvPr/>
        </p:nvSpPr>
        <p:spPr>
          <a:xfrm>
            <a:off x="6187700" y="3776575"/>
            <a:ext cx="1888500" cy="86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verage"/>
                <a:ea typeface="Average"/>
                <a:cs typeface="Average"/>
                <a:sym typeface="Average"/>
              </a:rPr>
              <a:t>More info on the website</a:t>
            </a:r>
            <a:br>
              <a:rPr lang="en" sz="1200">
                <a:latin typeface="Average"/>
                <a:ea typeface="Average"/>
                <a:cs typeface="Average"/>
                <a:sym typeface="Average"/>
              </a:rPr>
            </a:br>
            <a:endParaRPr sz="1200">
              <a:latin typeface="Average"/>
              <a:ea typeface="Average"/>
              <a:cs typeface="Average"/>
              <a:sym typeface="Average"/>
            </a:endParaRPr>
          </a:p>
          <a:p>
            <a:pPr indent="0" lvl="0" marL="0" rtl="0" algn="ctr">
              <a:spcBef>
                <a:spcPts val="0"/>
              </a:spcBef>
              <a:spcAft>
                <a:spcPts val="0"/>
              </a:spcAft>
              <a:buNone/>
            </a:pPr>
            <a:r>
              <a:rPr lang="en" sz="1200">
                <a:latin typeface="Average"/>
                <a:ea typeface="Average"/>
                <a:cs typeface="Average"/>
                <a:sym typeface="Average"/>
              </a:rPr>
              <a:t>https://msu-cmse-courses.github.io/CMSE801-S26</a:t>
            </a:r>
            <a:endParaRPr sz="1200">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Grading</a:t>
            </a:r>
            <a:endParaRPr/>
          </a:p>
        </p:txBody>
      </p:sp>
      <p:sp>
        <p:nvSpPr>
          <p:cNvPr id="154" name="Google Shape;154;p2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155" name="Google Shape;155;p25"/>
          <p:cNvSpPr txBox="1"/>
          <p:nvPr>
            <p:ph idx="1" type="body"/>
          </p:nvPr>
        </p:nvSpPr>
        <p:spPr>
          <a:xfrm>
            <a:off x="311700" y="897725"/>
            <a:ext cx="3667800" cy="396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Pre-Class &amp; In-Class Assignments</a:t>
            </a:r>
            <a:endParaRPr/>
          </a:p>
          <a:p>
            <a:pPr indent="-317500" lvl="1" marL="914400" rtl="0" algn="l">
              <a:spcBef>
                <a:spcPts val="0"/>
              </a:spcBef>
              <a:spcAft>
                <a:spcPts val="0"/>
              </a:spcAft>
              <a:buSzPts val="1400"/>
              <a:buChar char="○"/>
            </a:pPr>
            <a:r>
              <a:rPr lang="en"/>
              <a:t>2 points: Reasonable effort, Survey submitted, Working Notebook</a:t>
            </a:r>
            <a:endParaRPr/>
          </a:p>
          <a:p>
            <a:pPr indent="-317500" lvl="1" marL="914400" rtl="0" algn="l">
              <a:spcBef>
                <a:spcPts val="0"/>
              </a:spcBef>
              <a:spcAft>
                <a:spcPts val="0"/>
              </a:spcAft>
              <a:buSzPts val="1400"/>
              <a:buChar char="○"/>
            </a:pPr>
            <a:r>
              <a:rPr lang="en"/>
              <a:t>1 point: Reasonable effort, Working notebook</a:t>
            </a:r>
            <a:endParaRPr/>
          </a:p>
          <a:p>
            <a:pPr indent="-317500" lvl="1" marL="914400" rtl="0" algn="l">
              <a:spcBef>
                <a:spcPts val="0"/>
              </a:spcBef>
              <a:spcAft>
                <a:spcPts val="0"/>
              </a:spcAft>
              <a:buSzPts val="1400"/>
              <a:buChar char="○"/>
            </a:pPr>
            <a:r>
              <a:rPr lang="en"/>
              <a:t>0 points: No submission and/or Not a working notebook</a:t>
            </a:r>
            <a:br>
              <a:rPr lang="en"/>
            </a:br>
            <a:endParaRPr/>
          </a:p>
          <a:p>
            <a:pPr indent="-342900" lvl="0" marL="457200" rtl="0" algn="l">
              <a:spcBef>
                <a:spcPts val="0"/>
              </a:spcBef>
              <a:spcAft>
                <a:spcPts val="0"/>
              </a:spcAft>
              <a:buSzPts val="1800"/>
              <a:buChar char="●"/>
            </a:pPr>
            <a:r>
              <a:rPr lang="en"/>
              <a:t>Homework/Exams:</a:t>
            </a:r>
            <a:endParaRPr/>
          </a:p>
          <a:p>
            <a:pPr indent="-317500" lvl="1" marL="914400" rtl="0" algn="l">
              <a:spcBef>
                <a:spcPts val="0"/>
              </a:spcBef>
              <a:spcAft>
                <a:spcPts val="0"/>
              </a:spcAft>
              <a:buSzPts val="1400"/>
              <a:buChar char="○"/>
            </a:pPr>
            <a:r>
              <a:rPr lang="en"/>
              <a:t>0 points: No submission and/or Not a working notebook</a:t>
            </a:r>
            <a:br>
              <a:rPr lang="en"/>
            </a:br>
            <a:endParaRPr/>
          </a:p>
          <a:p>
            <a:pPr indent="-342900" lvl="0" marL="457200" rtl="0" algn="l">
              <a:spcBef>
                <a:spcPts val="0"/>
              </a:spcBef>
              <a:spcAft>
                <a:spcPts val="0"/>
              </a:spcAft>
              <a:buSzPts val="1800"/>
              <a:buChar char="●"/>
            </a:pPr>
            <a:r>
              <a:rPr lang="en"/>
              <a:t>Contact Us for any questions!!!</a:t>
            </a:r>
            <a:endParaRPr/>
          </a:p>
        </p:txBody>
      </p:sp>
      <p:sp>
        <p:nvSpPr>
          <p:cNvPr id="156" name="Google Shape;156;p25"/>
          <p:cNvSpPr txBox="1"/>
          <p:nvPr>
            <p:ph idx="1" type="body"/>
          </p:nvPr>
        </p:nvSpPr>
        <p:spPr>
          <a:xfrm>
            <a:off x="4123100" y="1017725"/>
            <a:ext cx="3180900" cy="396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Grading Distribution </a:t>
            </a:r>
            <a:endParaRPr/>
          </a:p>
          <a:p>
            <a:pPr indent="-317500" lvl="1" marL="914400" rtl="0" algn="l">
              <a:spcBef>
                <a:spcPts val="0"/>
              </a:spcBef>
              <a:spcAft>
                <a:spcPts val="0"/>
              </a:spcAft>
              <a:buSzPts val="1400"/>
              <a:buChar char="○"/>
            </a:pPr>
            <a:r>
              <a:rPr lang="en"/>
              <a:t>Participation, attendance, in-class assignments (15%)</a:t>
            </a:r>
            <a:endParaRPr/>
          </a:p>
          <a:p>
            <a:pPr indent="-317500" lvl="1" marL="914400" rtl="0" algn="l">
              <a:spcBef>
                <a:spcPts val="0"/>
              </a:spcBef>
              <a:spcAft>
                <a:spcPts val="0"/>
              </a:spcAft>
              <a:buSzPts val="1400"/>
              <a:buChar char="○"/>
            </a:pPr>
            <a:r>
              <a:rPr lang="en"/>
              <a:t>Pre-class assignments (15%)</a:t>
            </a:r>
            <a:endParaRPr/>
          </a:p>
          <a:p>
            <a:pPr indent="-317500" lvl="1" marL="914400" rtl="0" algn="l">
              <a:spcBef>
                <a:spcPts val="0"/>
              </a:spcBef>
              <a:spcAft>
                <a:spcPts val="0"/>
              </a:spcAft>
              <a:buSzPts val="1400"/>
              <a:buChar char="○"/>
            </a:pPr>
            <a:r>
              <a:rPr lang="en"/>
              <a:t>Quizzes (20%)</a:t>
            </a:r>
            <a:endParaRPr/>
          </a:p>
          <a:p>
            <a:pPr indent="-317500" lvl="1" marL="914400" rtl="0" algn="l">
              <a:spcBef>
                <a:spcPts val="0"/>
              </a:spcBef>
              <a:spcAft>
                <a:spcPts val="0"/>
              </a:spcAft>
              <a:buSzPts val="1400"/>
              <a:buChar char="○"/>
            </a:pPr>
            <a:r>
              <a:rPr lang="en"/>
              <a:t>Homework (25%)</a:t>
            </a:r>
            <a:endParaRPr/>
          </a:p>
          <a:p>
            <a:pPr indent="-317500" lvl="1" marL="914400" rtl="0" algn="l">
              <a:spcBef>
                <a:spcPts val="0"/>
              </a:spcBef>
              <a:spcAft>
                <a:spcPts val="0"/>
              </a:spcAft>
              <a:buSzPts val="1400"/>
              <a:buChar char="○"/>
            </a:pPr>
            <a:r>
              <a:rPr lang="en"/>
              <a:t>Semester Project (25%)</a:t>
            </a:r>
            <a:endParaRPr/>
          </a:p>
          <a:p>
            <a:pPr indent="-342900" lvl="0" marL="457200" rtl="0" algn="l">
              <a:spcBef>
                <a:spcPts val="0"/>
              </a:spcBef>
              <a:spcAft>
                <a:spcPts val="0"/>
              </a:spcAft>
              <a:buSzPts val="1800"/>
              <a:buChar char="●"/>
            </a:pPr>
            <a:r>
              <a:rPr lang="en"/>
              <a:t>Drop 2 lowest in class grades </a:t>
            </a:r>
            <a:endParaRPr/>
          </a:p>
          <a:p>
            <a:pPr indent="-342900" lvl="0" marL="457200" rtl="0" algn="l">
              <a:spcBef>
                <a:spcPts val="0"/>
              </a:spcBef>
              <a:spcAft>
                <a:spcPts val="0"/>
              </a:spcAft>
              <a:buSzPts val="1800"/>
              <a:buChar char="●"/>
            </a:pPr>
            <a:r>
              <a:rPr lang="en"/>
              <a:t>Drop 2 lowest pre-class grades</a:t>
            </a:r>
            <a:endParaRPr/>
          </a:p>
        </p:txBody>
      </p:sp>
      <p:graphicFrame>
        <p:nvGraphicFramePr>
          <p:cNvPr id="157" name="Google Shape;157;p25"/>
          <p:cNvGraphicFramePr/>
          <p:nvPr/>
        </p:nvGraphicFramePr>
        <p:xfrm>
          <a:off x="7568525" y="1044425"/>
          <a:ext cx="3000000" cy="3000000"/>
        </p:xfrm>
        <a:graphic>
          <a:graphicData uri="http://schemas.openxmlformats.org/drawingml/2006/table">
            <a:tbl>
              <a:tblPr>
                <a:noFill/>
                <a:tableStyleId>{AB6D9737-5519-46F4-808F-6E1F358B740E}</a:tableStyleId>
              </a:tblPr>
              <a:tblGrid>
                <a:gridCol w="547100"/>
                <a:gridCol w="826025"/>
              </a:tblGrid>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4.0​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&gt;90%​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3.5​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&gt;85%​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3.0​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&gt;80%​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2.5​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&gt;75%​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2.0​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&gt;70%​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1.5​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&gt;65%​</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1.0​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&gt;60%​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r h="297800">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0.0​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c>
                  <a:txBody>
                    <a:bodyPr/>
                    <a:lstStyle/>
                    <a:p>
                      <a:pPr indent="0" lvl="0" marL="38100" marR="38100" rtl="0" algn="l">
                        <a:lnSpc>
                          <a:spcPct val="115000"/>
                        </a:lnSpc>
                        <a:spcBef>
                          <a:spcPts val="0"/>
                        </a:spcBef>
                        <a:spcAft>
                          <a:spcPts val="0"/>
                        </a:spcAft>
                        <a:buNone/>
                      </a:pPr>
                      <a:r>
                        <a:rPr lang="en" sz="1600">
                          <a:solidFill>
                            <a:srgbClr val="858585"/>
                          </a:solidFill>
                          <a:latin typeface="Average"/>
                          <a:ea typeface="Average"/>
                          <a:cs typeface="Average"/>
                          <a:sym typeface="Average"/>
                        </a:rPr>
                        <a:t>&lt;60%​</a:t>
                      </a:r>
                      <a:endParaRPr sz="1600">
                        <a:solidFill>
                          <a:srgbClr val="858585"/>
                        </a:solidFill>
                        <a:latin typeface="Average"/>
                        <a:ea typeface="Average"/>
                        <a:cs typeface="Average"/>
                        <a:sym typeface="Average"/>
                      </a:endParaRPr>
                    </a:p>
                  </a:txBody>
                  <a:tcPr marT="91425" marB="91425" marR="91425" marL="91425" anchor="ctr">
                    <a:lnL cap="flat" cmpd="sng" w="9525">
                      <a:solidFill>
                        <a:srgbClr val="4780AA"/>
                      </a:solidFill>
                      <a:prstDash val="solid"/>
                      <a:round/>
                      <a:headEnd len="sm" w="sm" type="none"/>
                      <a:tailEnd len="sm" w="sm" type="none"/>
                    </a:lnL>
                    <a:lnR cap="flat" cmpd="sng" w="9525">
                      <a:solidFill>
                        <a:srgbClr val="4780AA"/>
                      </a:solidFill>
                      <a:prstDash val="solid"/>
                      <a:round/>
                      <a:headEnd len="sm" w="sm" type="none"/>
                      <a:tailEnd len="sm" w="sm" type="none"/>
                    </a:lnR>
                    <a:lnT cap="flat" cmpd="sng" w="9525">
                      <a:solidFill>
                        <a:srgbClr val="4780AA"/>
                      </a:solidFill>
                      <a:prstDash val="solid"/>
                      <a:round/>
                      <a:headEnd len="sm" w="sm" type="none"/>
                      <a:tailEnd len="sm" w="sm" type="none"/>
                    </a:lnT>
                    <a:lnB cap="flat" cmpd="sng" w="9525">
                      <a:solidFill>
                        <a:srgbClr val="4780AA"/>
                      </a:solidFill>
                      <a:prstDash val="solid"/>
                      <a:round/>
                      <a:headEnd len="sm" w="sm" type="none"/>
                      <a:tailEnd len="sm" w="sm" type="none"/>
                    </a:lnB>
                    <a:solidFill>
                      <a:schemeClr val="accent6"/>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p:nvPr/>
        </p:nvSpPr>
        <p:spPr>
          <a:xfrm>
            <a:off x="2173200" y="78050"/>
            <a:ext cx="5158800" cy="1322100"/>
          </a:xfrm>
          <a:prstGeom prst="roundRect">
            <a:avLst>
              <a:gd fmla="val 16667" name="adj"/>
            </a:avLst>
          </a:prstGeom>
          <a:solidFill>
            <a:srgbClr val="C6E0B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164" name="Google Shape;164;p26"/>
          <p:cNvSpPr txBox="1"/>
          <p:nvPr/>
        </p:nvSpPr>
        <p:spPr>
          <a:xfrm>
            <a:off x="1147200" y="27731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165" name="Google Shape;165;p26"/>
          <p:cNvPicPr preferRelativeResize="0"/>
          <p:nvPr/>
        </p:nvPicPr>
        <p:blipFill>
          <a:blip r:embed="rId3">
            <a:alphaModFix/>
          </a:blip>
          <a:stretch>
            <a:fillRect/>
          </a:stretch>
        </p:blipFill>
        <p:spPr>
          <a:xfrm>
            <a:off x="3190900" y="431623"/>
            <a:ext cx="3042350" cy="614950"/>
          </a:xfrm>
          <a:prstGeom prst="rect">
            <a:avLst/>
          </a:prstGeom>
          <a:noFill/>
          <a:ln>
            <a:noFill/>
          </a:ln>
        </p:spPr>
      </p:pic>
      <p:sp>
        <p:nvSpPr>
          <p:cNvPr id="166" name="Google Shape;166;p26"/>
          <p:cNvSpPr txBox="1"/>
          <p:nvPr>
            <p:ph idx="1" type="body"/>
          </p:nvPr>
        </p:nvSpPr>
        <p:spPr>
          <a:xfrm>
            <a:off x="600600" y="1935000"/>
            <a:ext cx="8304000" cy="23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As Spartans, we continually strive to hold ourselves to values of the highest ethical honor. As students, we will empower an atmosphere as future leaders to uphold honesty in our work, hold our peers accountable to the highest standard, and take pride that integrity is worth more than our grade. We pledge that these ethics will carry beyond our time as students at Michigan State University, fostering an improved recognition for personal best and integrity in our society.​</a:t>
            </a:r>
            <a:endParaRPr/>
          </a:p>
        </p:txBody>
      </p:sp>
      <p:sp>
        <p:nvSpPr>
          <p:cNvPr id="167" name="Google Shape;167;p26"/>
          <p:cNvSpPr txBox="1"/>
          <p:nvPr/>
        </p:nvSpPr>
        <p:spPr>
          <a:xfrm>
            <a:off x="2595600" y="4683025"/>
            <a:ext cx="3786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Average"/>
                <a:ea typeface="Average"/>
                <a:cs typeface="Average"/>
                <a:sym typeface="Average"/>
              </a:rPr>
              <a:t>R</a:t>
            </a:r>
            <a:r>
              <a:rPr lang="en" sz="1100">
                <a:latin typeface="Average"/>
                <a:ea typeface="Average"/>
                <a:cs typeface="Average"/>
                <a:sym typeface="Average"/>
              </a:rPr>
              <a:t>eview the pledge at: </a:t>
            </a:r>
            <a:r>
              <a:rPr lang="en" sz="1100" u="sng">
                <a:solidFill>
                  <a:schemeClr val="hlink"/>
                </a:solidFill>
                <a:latin typeface="Average"/>
                <a:ea typeface="Average"/>
                <a:cs typeface="Average"/>
                <a:sym typeface="Average"/>
                <a:hlinkClick r:id="rId4"/>
              </a:rPr>
              <a:t>https://honorcode.msu.edu/about/​</a:t>
            </a:r>
            <a:r>
              <a:rPr lang="en" sz="1100">
                <a:latin typeface="Average"/>
                <a:ea typeface="Average"/>
                <a:cs typeface="Average"/>
                <a:sym typeface="Average"/>
              </a:rPr>
              <a:t> </a:t>
            </a:r>
            <a:endParaRPr sz="1100">
              <a:latin typeface="Average"/>
              <a:ea typeface="Average"/>
              <a:cs typeface="Average"/>
              <a:sym typeface="Average"/>
            </a:endParaRPr>
          </a:p>
        </p:txBody>
      </p:sp>
      <p:pic>
        <p:nvPicPr>
          <p:cNvPr id="168" name="Google Shape;168;p26"/>
          <p:cNvPicPr preferRelativeResize="0"/>
          <p:nvPr/>
        </p:nvPicPr>
        <p:blipFill>
          <a:blip r:embed="rId5">
            <a:alphaModFix/>
          </a:blip>
          <a:stretch>
            <a:fillRect/>
          </a:stretch>
        </p:blipFill>
        <p:spPr>
          <a:xfrm>
            <a:off x="683775" y="1710708"/>
            <a:ext cx="7984950" cy="130367"/>
          </a:xfrm>
          <a:prstGeom prst="rect">
            <a:avLst/>
          </a:prstGeom>
          <a:noFill/>
          <a:ln>
            <a:noFill/>
          </a:ln>
        </p:spPr>
      </p:pic>
      <p:pic>
        <p:nvPicPr>
          <p:cNvPr id="169" name="Google Shape;169;p26"/>
          <p:cNvPicPr preferRelativeResize="0"/>
          <p:nvPr/>
        </p:nvPicPr>
        <p:blipFill>
          <a:blip r:embed="rId5">
            <a:alphaModFix/>
          </a:blip>
          <a:stretch>
            <a:fillRect/>
          </a:stretch>
        </p:blipFill>
        <p:spPr>
          <a:xfrm>
            <a:off x="579525" y="4307708"/>
            <a:ext cx="7984950" cy="1303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Accommodations​</a:t>
            </a:r>
            <a:endParaRPr/>
          </a:p>
        </p:txBody>
      </p:sp>
      <p:sp>
        <p:nvSpPr>
          <p:cNvPr id="175" name="Google Shape;17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If you have a university-documented learning difficulty or require other accommodations, please provide me with your VISA as soon as possible and speak with me about how I can assist you in your learning.​</a:t>
            </a:r>
            <a:br>
              <a:rPr lang="en"/>
            </a:br>
            <a:br>
              <a:rPr lang="en"/>
            </a:br>
            <a:r>
              <a:rPr lang="en"/>
              <a:t>If you do not have a VISA but have been documented with a learning difficulty or other problems for which you may still require ​accommodation, please contact MSU’s Resource Center for People with Disabilities (355-9642) in order to acquire current documentation.​</a:t>
            </a:r>
            <a:endParaRPr/>
          </a:p>
          <a:p>
            <a:pPr indent="0" lvl="0" marL="0" rtl="0" algn="l">
              <a:spcBef>
                <a:spcPts val="1200"/>
              </a:spcBef>
              <a:spcAft>
                <a:spcPts val="0"/>
              </a:spcAft>
              <a:buNone/>
            </a:pPr>
            <a:r>
              <a:rPr lang="en"/>
              <a:t>If you need accommodations but do not yet have documentation, please contact me! ​</a:t>
            </a:r>
            <a:endParaRPr/>
          </a:p>
          <a:p>
            <a:pPr indent="0" lvl="0" marL="0" rtl="0" algn="l">
              <a:spcBef>
                <a:spcPts val="1200"/>
              </a:spcBef>
              <a:spcAft>
                <a:spcPts val="1200"/>
              </a:spcAft>
              <a:buNone/>
            </a:pPr>
            <a:r>
              <a:t/>
            </a:r>
            <a:endParaRPr/>
          </a:p>
        </p:txBody>
      </p:sp>
      <p:sp>
        <p:nvSpPr>
          <p:cNvPr id="176" name="Google Shape;176;p2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channel: Microsoft Teams</a:t>
            </a:r>
            <a:endParaRPr/>
          </a:p>
        </p:txBody>
      </p:sp>
      <p:sp>
        <p:nvSpPr>
          <p:cNvPr id="182" name="Google Shape;182;p28"/>
          <p:cNvSpPr txBox="1"/>
          <p:nvPr>
            <p:ph idx="1" type="body"/>
          </p:nvPr>
        </p:nvSpPr>
        <p:spPr>
          <a:xfrm>
            <a:off x="152400" y="1175275"/>
            <a:ext cx="8258100" cy="36642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We will be using Microsoft Teams in this course.​</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The primary goal of Teams is to support communication between the students, but it will also enable instructor support. ​</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Use the Teams channels to show ideas/tips/plots or to ask questions about syntax, error messages. ​</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The Teams usage rules are in the syllabus on the </a:t>
            </a:r>
            <a:r>
              <a:rPr lang="en" u="sng">
                <a:solidFill>
                  <a:schemeClr val="hlink"/>
                </a:solidFill>
                <a:hlinkClick r:id="rId3"/>
              </a:rPr>
              <a:t>website</a:t>
            </a:r>
            <a:r>
              <a:rPr lang="en"/>
              <a:t>. ​</a:t>
            </a:r>
            <a:endParaRPr/>
          </a:p>
        </p:txBody>
      </p:sp>
      <p:sp>
        <p:nvSpPr>
          <p:cNvPr id="183" name="Google Shape;183;p2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Main Tool We Will Use: Python</a:t>
            </a:r>
            <a:endParaRPr/>
          </a:p>
        </p:txBody>
      </p:sp>
      <p:sp>
        <p:nvSpPr>
          <p:cNvPr id="189" name="Google Shape;189;p29"/>
          <p:cNvSpPr txBox="1"/>
          <p:nvPr>
            <p:ph idx="1" type="body"/>
          </p:nvPr>
        </p:nvSpPr>
        <p:spPr>
          <a:xfrm>
            <a:off x="311700" y="1152475"/>
            <a:ext cx="4896300" cy="3904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In this course, we will cover some aspects of </a:t>
            </a:r>
            <a:r>
              <a:rPr b="1" lang="en"/>
              <a:t>Python</a:t>
            </a:r>
            <a:br>
              <a:rPr b="1" lang="en"/>
            </a:br>
            <a:endParaRPr/>
          </a:p>
          <a:p>
            <a:pPr indent="-342900" lvl="0" marL="457200" rtl="0" algn="l">
              <a:spcBef>
                <a:spcPts val="0"/>
              </a:spcBef>
              <a:spcAft>
                <a:spcPts val="0"/>
              </a:spcAft>
              <a:buSzPts val="1800"/>
              <a:buChar char="●"/>
            </a:pPr>
            <a:r>
              <a:rPr lang="en"/>
              <a:t>The environment we will work in is called a “</a:t>
            </a:r>
            <a:r>
              <a:rPr b="1" lang="en"/>
              <a:t>Jupyter Notebook/Lab</a:t>
            </a:r>
            <a:r>
              <a:rPr lang="en"/>
              <a:t>”, and we will walk through one in class today.​</a:t>
            </a:r>
            <a:br>
              <a:rPr lang="en"/>
            </a:br>
            <a:endParaRPr/>
          </a:p>
          <a:p>
            <a:pPr indent="-342900" lvl="0" marL="457200" rtl="0" algn="l">
              <a:spcBef>
                <a:spcPts val="0"/>
              </a:spcBef>
              <a:spcAft>
                <a:spcPts val="0"/>
              </a:spcAft>
              <a:buSzPts val="1800"/>
              <a:buChar char="●"/>
            </a:pPr>
            <a:r>
              <a:rPr lang="en"/>
              <a:t>If you want more advanced Python knowledge when this course is completed, please consider CMSE 802</a:t>
            </a:r>
            <a:br>
              <a:rPr lang="en"/>
            </a:br>
            <a:endParaRPr/>
          </a:p>
          <a:p>
            <a:pPr indent="-342900" lvl="0" marL="457200" rtl="0" algn="l">
              <a:spcBef>
                <a:spcPts val="0"/>
              </a:spcBef>
              <a:spcAft>
                <a:spcPts val="0"/>
              </a:spcAft>
              <a:buSzPts val="1800"/>
              <a:buChar char="●"/>
            </a:pPr>
            <a:r>
              <a:rPr lang="en"/>
              <a:t>Good Resource: </a:t>
            </a:r>
            <a:r>
              <a:rPr lang="en" u="sng">
                <a:solidFill>
                  <a:schemeClr val="hlink"/>
                </a:solidFill>
                <a:hlinkClick r:id="rId3"/>
              </a:rPr>
              <a:t>https://realpython.com</a:t>
            </a:r>
            <a:br>
              <a:rPr lang="en"/>
            </a:br>
            <a:endParaRPr/>
          </a:p>
          <a:p>
            <a:pPr indent="-342900" lvl="0" marL="457200" rtl="0" algn="l">
              <a:spcBef>
                <a:spcPts val="0"/>
              </a:spcBef>
              <a:spcAft>
                <a:spcPts val="0"/>
              </a:spcAft>
              <a:buSzPts val="1800"/>
              <a:buChar char="●"/>
            </a:pPr>
            <a:r>
              <a:rPr lang="en"/>
              <a:t>YouTube Channels: </a:t>
            </a:r>
            <a:r>
              <a:rPr lang="en" u="sng">
                <a:solidFill>
                  <a:schemeClr val="hlink"/>
                </a:solidFill>
                <a:hlinkClick r:id="rId4"/>
              </a:rPr>
              <a:t>Socratica</a:t>
            </a:r>
            <a:endParaRPr/>
          </a:p>
        </p:txBody>
      </p:sp>
      <p:sp>
        <p:nvSpPr>
          <p:cNvPr id="190" name="Google Shape;190;p2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191" name="Google Shape;191;p29"/>
          <p:cNvPicPr preferRelativeResize="0"/>
          <p:nvPr/>
        </p:nvPicPr>
        <p:blipFill rotWithShape="1">
          <a:blip r:embed="rId5">
            <a:alphaModFix/>
          </a:blip>
          <a:srcRect b="16850" l="12451" r="6590" t="13603"/>
          <a:stretch/>
        </p:blipFill>
        <p:spPr>
          <a:xfrm>
            <a:off x="5564625" y="1152475"/>
            <a:ext cx="3023799" cy="877375"/>
          </a:xfrm>
          <a:prstGeom prst="rect">
            <a:avLst/>
          </a:prstGeom>
          <a:noFill/>
          <a:ln>
            <a:noFill/>
          </a:ln>
        </p:spPr>
      </p:pic>
      <p:pic>
        <p:nvPicPr>
          <p:cNvPr id="192" name="Google Shape;192;p29"/>
          <p:cNvPicPr preferRelativeResize="0"/>
          <p:nvPr/>
        </p:nvPicPr>
        <p:blipFill>
          <a:blip r:embed="rId6">
            <a:alphaModFix/>
          </a:blip>
          <a:stretch>
            <a:fillRect/>
          </a:stretch>
        </p:blipFill>
        <p:spPr>
          <a:xfrm>
            <a:off x="5089475" y="2188225"/>
            <a:ext cx="3974099" cy="281555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info</a:t>
            </a:r>
            <a:endParaRPr/>
          </a:p>
        </p:txBody>
      </p:sp>
      <p:sp>
        <p:nvSpPr>
          <p:cNvPr id="198" name="Google Shape;198;p30"/>
          <p:cNvSpPr txBox="1"/>
          <p:nvPr>
            <p:ph idx="1" type="body"/>
          </p:nvPr>
        </p:nvSpPr>
        <p:spPr>
          <a:xfrm>
            <a:off x="311700" y="837650"/>
            <a:ext cx="3010800" cy="42192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The syllabus is available on the “</a:t>
            </a:r>
            <a:r>
              <a:rPr i="1" lang="en"/>
              <a:t>Course Information</a:t>
            </a:r>
            <a:r>
              <a:rPr lang="en"/>
              <a:t>” section of the course webpage​</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lang="en"/>
              <a:t>You should have installed Anaconda on your laptops before coming to class today. You should also have received instructions for getting this set up via email. The “Software Setup Guide” is also available on the course webpage​</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rPr lang="en"/>
              <a:t>If you ever lose track of information for the course, you can also refer to the course website: </a:t>
            </a:r>
            <a:r>
              <a:rPr lang="en" u="sng">
                <a:solidFill>
                  <a:schemeClr val="hlink"/>
                </a:solidFill>
                <a:hlinkClick r:id="rId3"/>
              </a:rPr>
              <a:t>https://msu-cmse-courses.github.io/CMSE801-S26</a:t>
            </a:r>
            <a:r>
              <a:rPr lang="en"/>
              <a:t> </a:t>
            </a:r>
            <a:endParaRPr/>
          </a:p>
        </p:txBody>
      </p:sp>
      <p:sp>
        <p:nvSpPr>
          <p:cNvPr id="199" name="Google Shape;199;p3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200" name="Google Shape;200;p30"/>
          <p:cNvPicPr preferRelativeResize="0"/>
          <p:nvPr/>
        </p:nvPicPr>
        <p:blipFill>
          <a:blip r:embed="rId4">
            <a:alphaModFix/>
          </a:blip>
          <a:stretch>
            <a:fillRect/>
          </a:stretch>
        </p:blipFill>
        <p:spPr>
          <a:xfrm>
            <a:off x="3474900" y="2046625"/>
            <a:ext cx="5516703" cy="2031052"/>
          </a:xfrm>
          <a:prstGeom prst="rect">
            <a:avLst/>
          </a:prstGeom>
          <a:noFill/>
          <a:ln>
            <a:noFill/>
          </a:ln>
        </p:spPr>
      </p:pic>
      <p:cxnSp>
        <p:nvCxnSpPr>
          <p:cNvPr id="201" name="Google Shape;201;p30"/>
          <p:cNvCxnSpPr/>
          <p:nvPr/>
        </p:nvCxnSpPr>
        <p:spPr>
          <a:xfrm flipH="1" rot="10800000">
            <a:off x="5800925" y="3323125"/>
            <a:ext cx="1317300" cy="15900"/>
          </a:xfrm>
          <a:prstGeom prst="straightConnector1">
            <a:avLst/>
          </a:prstGeom>
          <a:noFill/>
          <a:ln cap="flat" cmpd="sng" w="19050">
            <a:solidFill>
              <a:srgbClr val="F6B26B"/>
            </a:solidFill>
            <a:prstDash val="solid"/>
            <a:round/>
            <a:headEnd len="med" w="med" type="triangl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7" name="Google Shape;20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4200">
                <a:solidFill>
                  <a:schemeClr val="accent5"/>
                </a:solidFill>
                <a:latin typeface="Oswald"/>
                <a:ea typeface="Oswald"/>
                <a:cs typeface="Oswald"/>
                <a:sym typeface="Oswald"/>
              </a:rPr>
              <a:t>Questions???</a:t>
            </a:r>
            <a:endParaRPr sz="4200">
              <a:solidFill>
                <a:schemeClr val="accent5"/>
              </a:solidFill>
              <a:latin typeface="Oswald"/>
              <a:ea typeface="Oswald"/>
              <a:cs typeface="Oswald"/>
              <a:sym typeface="Oswald"/>
            </a:endParaRPr>
          </a:p>
          <a:p>
            <a:pPr indent="0" lvl="0" marL="0" rtl="0" algn="l">
              <a:spcBef>
                <a:spcPts val="0"/>
              </a:spcBef>
              <a:spcAft>
                <a:spcPts val="1200"/>
              </a:spcAft>
              <a:buNone/>
            </a:pPr>
            <a:r>
              <a:t/>
            </a:r>
            <a:endParaRPr/>
          </a:p>
        </p:txBody>
      </p:sp>
      <p:sp>
        <p:nvSpPr>
          <p:cNvPr id="208" name="Google Shape;208;p3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Student Concerns​</a:t>
            </a:r>
            <a:endParaRPr/>
          </a:p>
        </p:txBody>
      </p:sp>
      <p:sp>
        <p:nvSpPr>
          <p:cNvPr id="214" name="Google Shape;214;p32"/>
          <p:cNvSpPr txBox="1"/>
          <p:nvPr>
            <p:ph idx="1" type="body"/>
          </p:nvPr>
        </p:nvSpPr>
        <p:spPr>
          <a:xfrm>
            <a:off x="311700" y="873700"/>
            <a:ext cx="8592900" cy="4170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I’ve never programmed before, fear of confusion</a:t>
            </a:r>
            <a:endParaRPr b="1"/>
          </a:p>
          <a:p>
            <a:pPr indent="-317500" lvl="1" marL="914400" rtl="0" algn="l">
              <a:spcBef>
                <a:spcPts val="1000"/>
              </a:spcBef>
              <a:spcAft>
                <a:spcPts val="0"/>
              </a:spcAft>
              <a:buSzPts val="1400"/>
              <a:buChar char="○"/>
            </a:pPr>
            <a:r>
              <a:rPr lang="en"/>
              <a:t>Most of your classmates have not programmed before either! This is an intro course and is designed to accommodate any amount of prior knowledge.​</a:t>
            </a:r>
            <a:endParaRPr/>
          </a:p>
          <a:p>
            <a:pPr indent="-342900" lvl="0" marL="457200" rtl="0" algn="l">
              <a:spcBef>
                <a:spcPts val="1000"/>
              </a:spcBef>
              <a:spcAft>
                <a:spcPts val="0"/>
              </a:spcAft>
              <a:buSzPts val="1800"/>
              <a:buChar char="●"/>
            </a:pPr>
            <a:r>
              <a:rPr b="1" lang="en"/>
              <a:t>Worry about keeping up, </a:t>
            </a:r>
            <a:r>
              <a:rPr lang="en"/>
              <a:t>Concern about completion grades. Concern about quizzes.</a:t>
            </a:r>
            <a:endParaRPr/>
          </a:p>
          <a:p>
            <a:pPr indent="-317500" lvl="1" marL="914400" rtl="0" algn="l">
              <a:spcBef>
                <a:spcPts val="1000"/>
              </a:spcBef>
              <a:spcAft>
                <a:spcPts val="0"/>
              </a:spcAft>
              <a:buSzPts val="1400"/>
              <a:buChar char="○"/>
            </a:pPr>
            <a:r>
              <a:rPr lang="en"/>
              <a:t>You do need to do your best to keep up with the material. However, there will be regular office hours with TAs and professors. If you are having challenges that make it difficult to keep up with material, please reach out </a:t>
            </a:r>
            <a:endParaRPr/>
          </a:p>
          <a:p>
            <a:pPr indent="-342900" lvl="0" marL="457200" rtl="0" algn="l">
              <a:spcBef>
                <a:spcPts val="1000"/>
              </a:spcBef>
              <a:spcAft>
                <a:spcPts val="0"/>
              </a:spcAft>
              <a:buSzPts val="1800"/>
              <a:buChar char="●"/>
            </a:pPr>
            <a:r>
              <a:rPr b="1" lang="en"/>
              <a:t>How do I get help?</a:t>
            </a:r>
            <a:endParaRPr b="1"/>
          </a:p>
          <a:p>
            <a:pPr indent="-317500" lvl="1" marL="914400" rtl="0" algn="l">
              <a:spcBef>
                <a:spcPts val="1000"/>
              </a:spcBef>
              <a:spcAft>
                <a:spcPts val="0"/>
              </a:spcAft>
              <a:buSzPts val="1400"/>
              <a:buChar char="○"/>
            </a:pPr>
            <a:r>
              <a:rPr lang="en"/>
              <a:t>Come to office and help room hours, post in our section Teams channel, email/DM me</a:t>
            </a:r>
            <a:endParaRPr/>
          </a:p>
          <a:p>
            <a:pPr indent="-342900" lvl="0" marL="457200" rtl="0" algn="l">
              <a:spcBef>
                <a:spcPts val="1000"/>
              </a:spcBef>
              <a:spcAft>
                <a:spcPts val="0"/>
              </a:spcAft>
              <a:buSzPts val="1800"/>
              <a:buChar char="●"/>
            </a:pPr>
            <a:r>
              <a:rPr b="1" lang="en"/>
              <a:t>What resources do I have for class?</a:t>
            </a:r>
            <a:endParaRPr b="1"/>
          </a:p>
          <a:p>
            <a:pPr indent="-317500" lvl="1" marL="914400" rtl="0" algn="l">
              <a:spcBef>
                <a:spcPts val="1000"/>
              </a:spcBef>
              <a:spcAft>
                <a:spcPts val="1000"/>
              </a:spcAft>
              <a:buSzPts val="1400"/>
              <a:buChar char="○"/>
            </a:pPr>
            <a:r>
              <a:rPr lang="en"/>
              <a:t>Important course content will be posted on the class website and, in some cases, D2L. Look at those resources first, but if you can’t find what you’re looking for, contact me!​</a:t>
            </a:r>
            <a:endParaRPr/>
          </a:p>
        </p:txBody>
      </p:sp>
      <p:sp>
        <p:nvSpPr>
          <p:cNvPr id="215" name="Google Shape;215;p3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Coding Help</a:t>
            </a:r>
            <a:endParaRPr/>
          </a:p>
        </p:txBody>
      </p:sp>
      <p:sp>
        <p:nvSpPr>
          <p:cNvPr id="221" name="Google Shape;22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2" name="Google Shape;222;p3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223" name="Google Shape;223;p33"/>
          <p:cNvPicPr preferRelativeResize="0"/>
          <p:nvPr/>
        </p:nvPicPr>
        <p:blipFill>
          <a:blip r:embed="rId3">
            <a:alphaModFix/>
          </a:blip>
          <a:stretch>
            <a:fillRect/>
          </a:stretch>
        </p:blipFill>
        <p:spPr>
          <a:xfrm>
            <a:off x="65453" y="1152475"/>
            <a:ext cx="4118350" cy="1606050"/>
          </a:xfrm>
          <a:prstGeom prst="rect">
            <a:avLst/>
          </a:prstGeom>
          <a:noFill/>
          <a:ln>
            <a:noFill/>
          </a:ln>
        </p:spPr>
      </p:pic>
      <p:pic>
        <p:nvPicPr>
          <p:cNvPr id="224" name="Google Shape;224;p33"/>
          <p:cNvPicPr preferRelativeResize="0"/>
          <p:nvPr/>
        </p:nvPicPr>
        <p:blipFill>
          <a:blip r:embed="rId4">
            <a:alphaModFix/>
          </a:blip>
          <a:stretch>
            <a:fillRect/>
          </a:stretch>
        </p:blipFill>
        <p:spPr>
          <a:xfrm>
            <a:off x="5079290" y="2982489"/>
            <a:ext cx="3247425" cy="2161014"/>
          </a:xfrm>
          <a:prstGeom prst="rect">
            <a:avLst/>
          </a:prstGeom>
          <a:noFill/>
          <a:ln>
            <a:noFill/>
          </a:ln>
        </p:spPr>
      </p:pic>
      <p:pic>
        <p:nvPicPr>
          <p:cNvPr id="225" name="Google Shape;225;p33"/>
          <p:cNvPicPr preferRelativeResize="0"/>
          <p:nvPr/>
        </p:nvPicPr>
        <p:blipFill>
          <a:blip r:embed="rId5">
            <a:alphaModFix/>
          </a:blip>
          <a:stretch>
            <a:fillRect/>
          </a:stretch>
        </p:blipFill>
        <p:spPr>
          <a:xfrm>
            <a:off x="5740202" y="1118800"/>
            <a:ext cx="3092098" cy="1731575"/>
          </a:xfrm>
          <a:prstGeom prst="rect">
            <a:avLst/>
          </a:prstGeom>
          <a:noFill/>
          <a:ln>
            <a:noFill/>
          </a:ln>
        </p:spPr>
      </p:pic>
      <p:pic>
        <p:nvPicPr>
          <p:cNvPr id="226" name="Google Shape;226;p33"/>
          <p:cNvPicPr preferRelativeResize="0"/>
          <p:nvPr/>
        </p:nvPicPr>
        <p:blipFill>
          <a:blip r:embed="rId6">
            <a:alphaModFix/>
          </a:blip>
          <a:stretch>
            <a:fillRect/>
          </a:stretch>
        </p:blipFill>
        <p:spPr>
          <a:xfrm>
            <a:off x="1053050" y="2850363"/>
            <a:ext cx="2143125" cy="2143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a:t>
            </a:r>
            <a:endParaRPr/>
          </a:p>
        </p:txBody>
      </p:sp>
      <p:sp>
        <p:nvSpPr>
          <p:cNvPr id="232" name="Google Shape;23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3" name="Google Shape;233;p3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234" name="Google Shape;234;p34"/>
          <p:cNvPicPr preferRelativeResize="0"/>
          <p:nvPr/>
        </p:nvPicPr>
        <p:blipFill>
          <a:blip r:embed="rId3">
            <a:alphaModFix/>
          </a:blip>
          <a:stretch>
            <a:fillRect/>
          </a:stretch>
        </p:blipFill>
        <p:spPr>
          <a:xfrm>
            <a:off x="311700" y="1152474"/>
            <a:ext cx="8732770" cy="3530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Plan For Today​</a:t>
            </a:r>
            <a:endParaRPr/>
          </a:p>
        </p:txBody>
      </p:sp>
      <p:sp>
        <p:nvSpPr>
          <p:cNvPr id="240" name="Google Shape;240;p35"/>
          <p:cNvSpPr txBox="1"/>
          <p:nvPr>
            <p:ph idx="1" type="body"/>
          </p:nvPr>
        </p:nvSpPr>
        <p:spPr>
          <a:xfrm>
            <a:off x="311700" y="1152475"/>
            <a:ext cx="5753700" cy="3904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Downloading, using and submitting a Jupyter notebook​</a:t>
            </a:r>
            <a:endParaRPr/>
          </a:p>
          <a:p>
            <a:pPr indent="-317500" lvl="1" marL="914400" rtl="0" algn="l">
              <a:spcBef>
                <a:spcPts val="0"/>
              </a:spcBef>
              <a:spcAft>
                <a:spcPts val="0"/>
              </a:spcAft>
              <a:buSzPts val="1400"/>
              <a:buChar char="○"/>
            </a:pPr>
            <a:r>
              <a:rPr lang="en"/>
              <a:t>Go to the Course Website​</a:t>
            </a:r>
            <a:endParaRPr/>
          </a:p>
          <a:p>
            <a:pPr indent="-317500" lvl="1" marL="914400" rtl="0" algn="l">
              <a:spcBef>
                <a:spcPts val="0"/>
              </a:spcBef>
              <a:spcAft>
                <a:spcPts val="0"/>
              </a:spcAft>
              <a:buSzPts val="1400"/>
              <a:buChar char="○"/>
            </a:pPr>
            <a:r>
              <a:rPr lang="en"/>
              <a:t>Download the Jupyter notebook​</a:t>
            </a:r>
            <a:endParaRPr/>
          </a:p>
          <a:p>
            <a:pPr indent="-317500" lvl="1" marL="914400" rtl="0" algn="l">
              <a:spcBef>
                <a:spcPts val="0"/>
              </a:spcBef>
              <a:spcAft>
                <a:spcPts val="0"/>
              </a:spcAft>
              <a:buSzPts val="1400"/>
              <a:buChar char="○"/>
            </a:pPr>
            <a:r>
              <a:rPr lang="en"/>
              <a:t>Read the notebook, answer everything in it, and submit the final notebook into the submission folder on D2L.​</a:t>
            </a:r>
            <a:endParaRPr/>
          </a:p>
          <a:p>
            <a:pPr indent="-317500" lvl="1" marL="914400" rtl="0" algn="l">
              <a:spcBef>
                <a:spcPts val="0"/>
              </a:spcBef>
              <a:spcAft>
                <a:spcPts val="0"/>
              </a:spcAft>
              <a:buSzPts val="1400"/>
              <a:buChar char="○"/>
            </a:pPr>
            <a:r>
              <a:rPr b="1" lang="en"/>
              <a:t>NOTE</a:t>
            </a:r>
            <a:r>
              <a:rPr lang="en"/>
              <a:t>: See “Downloading and Uploading Notebooks” on the course website for step-by-step instructions​</a:t>
            </a:r>
            <a:br>
              <a:rPr lang="en"/>
            </a:br>
            <a:endParaRPr/>
          </a:p>
          <a:p>
            <a:pPr indent="-342900" lvl="0" marL="457200" rtl="0" algn="l">
              <a:spcBef>
                <a:spcPts val="0"/>
              </a:spcBef>
              <a:spcAft>
                <a:spcPts val="0"/>
              </a:spcAft>
              <a:buSzPts val="1800"/>
              <a:buChar char="●"/>
            </a:pPr>
            <a:r>
              <a:rPr lang="en"/>
              <a:t>In-class activity: “Algorithms". Instructions are in the notebook.</a:t>
            </a:r>
            <a:br>
              <a:rPr lang="en"/>
            </a:br>
            <a:endParaRPr/>
          </a:p>
          <a:p>
            <a:pPr indent="-342900" lvl="0" marL="457200" rtl="0" algn="l">
              <a:spcBef>
                <a:spcPts val="0"/>
              </a:spcBef>
              <a:spcAft>
                <a:spcPts val="0"/>
              </a:spcAft>
              <a:buSzPts val="1800"/>
              <a:buChar char="●"/>
            </a:pPr>
            <a:r>
              <a:rPr lang="en"/>
              <a:t>You have randomly created groups for today. We will establish more permanent groups in a week or so.​</a:t>
            </a:r>
            <a:endParaRPr/>
          </a:p>
        </p:txBody>
      </p:sp>
      <p:sp>
        <p:nvSpPr>
          <p:cNvPr id="241" name="Google Shape;241;p3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grpSp>
        <p:nvGrpSpPr>
          <p:cNvPr id="242" name="Google Shape;242;p35"/>
          <p:cNvGrpSpPr/>
          <p:nvPr/>
        </p:nvGrpSpPr>
        <p:grpSpPr>
          <a:xfrm>
            <a:off x="5995975" y="665450"/>
            <a:ext cx="3008400" cy="4090500"/>
            <a:chOff x="5995950" y="879500"/>
            <a:chExt cx="3008400" cy="4090500"/>
          </a:xfrm>
        </p:grpSpPr>
        <p:sp>
          <p:nvSpPr>
            <p:cNvPr id="243" name="Google Shape;243;p35"/>
            <p:cNvSpPr/>
            <p:nvPr/>
          </p:nvSpPr>
          <p:spPr>
            <a:xfrm>
              <a:off x="5995950" y="879500"/>
              <a:ext cx="3008400" cy="409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pic>
          <p:nvPicPr>
            <p:cNvPr id="244" name="Google Shape;244;p35"/>
            <p:cNvPicPr preferRelativeResize="0"/>
            <p:nvPr/>
          </p:nvPicPr>
          <p:blipFill>
            <a:blip r:embed="rId3">
              <a:alphaModFix/>
            </a:blip>
            <a:stretch>
              <a:fillRect/>
            </a:stretch>
          </p:blipFill>
          <p:spPr>
            <a:xfrm>
              <a:off x="6124275" y="1958350"/>
              <a:ext cx="2773800" cy="2773800"/>
            </a:xfrm>
            <a:prstGeom prst="rect">
              <a:avLst/>
            </a:prstGeom>
            <a:noFill/>
            <a:ln>
              <a:noFill/>
            </a:ln>
          </p:spPr>
        </p:pic>
        <p:sp>
          <p:nvSpPr>
            <p:cNvPr id="245" name="Google Shape;245;p35"/>
            <p:cNvSpPr txBox="1"/>
            <p:nvPr/>
          </p:nvSpPr>
          <p:spPr>
            <a:xfrm>
              <a:off x="6078375" y="1017725"/>
              <a:ext cx="2865600" cy="10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Average"/>
                  <a:ea typeface="Average"/>
                  <a:cs typeface="Average"/>
                  <a:sym typeface="Average"/>
                </a:rPr>
                <a:t>DO NOT RUN YOUR CODE FROM THE DOWNLOADS FOLDER!</a:t>
              </a:r>
              <a:endParaRPr sz="1800">
                <a:solidFill>
                  <a:srgbClr val="FF0000"/>
                </a:solidFill>
                <a:latin typeface="Average"/>
                <a:ea typeface="Average"/>
                <a:cs typeface="Average"/>
                <a:sym typeface="Average"/>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251" name="Google Shape;251;p36"/>
          <p:cNvSpPr txBox="1"/>
          <p:nvPr/>
        </p:nvSpPr>
        <p:spPr>
          <a:xfrm>
            <a:off x="3056475" y="1176900"/>
            <a:ext cx="318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a:solidFill>
                  <a:schemeClr val="accent5"/>
                </a:solidFill>
                <a:latin typeface="Oswald"/>
                <a:ea typeface="Oswald"/>
                <a:cs typeface="Oswald"/>
                <a:sym typeface="Oswald"/>
              </a:rPr>
              <a:t>Time to get to work!</a:t>
            </a:r>
            <a:endParaRPr b="1" sz="2800">
              <a:solidFill>
                <a:schemeClr val="accent5"/>
              </a:solidFill>
              <a:latin typeface="Oswald"/>
              <a:ea typeface="Oswald"/>
              <a:cs typeface="Oswald"/>
              <a:sym typeface="Oswald"/>
            </a:endParaRPr>
          </a:p>
        </p:txBody>
      </p:sp>
      <p:pic>
        <p:nvPicPr>
          <p:cNvPr id="252" name="Google Shape;252;p36"/>
          <p:cNvPicPr preferRelativeResize="0"/>
          <p:nvPr/>
        </p:nvPicPr>
        <p:blipFill>
          <a:blip r:embed="rId3">
            <a:alphaModFix/>
          </a:blip>
          <a:stretch>
            <a:fillRect/>
          </a:stretch>
        </p:blipFill>
        <p:spPr>
          <a:xfrm>
            <a:off x="3619500" y="1924875"/>
            <a:ext cx="1905000" cy="1905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37"/>
          <p:cNvSpPr txBox="1"/>
          <p:nvPr>
            <p:ph idx="4294967295" type="title"/>
          </p:nvPr>
        </p:nvSpPr>
        <p:spPr>
          <a:xfrm>
            <a:off x="62550" y="257550"/>
            <a:ext cx="9081300" cy="44592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4800">
                <a:solidFill>
                  <a:schemeClr val="accent5"/>
                </a:solidFill>
              </a:rPr>
              <a:t>Do not forget !!!</a:t>
            </a:r>
            <a:br>
              <a:rPr lang="en" sz="4800">
                <a:solidFill>
                  <a:schemeClr val="accent5"/>
                </a:solidFill>
              </a:rPr>
            </a:br>
            <a:endParaRPr sz="4800">
              <a:solidFill>
                <a:schemeClr val="accent5"/>
              </a:solidFill>
            </a:endParaRPr>
          </a:p>
          <a:p>
            <a:pPr indent="-381000" lvl="0" marL="457200" rtl="0" algn="l">
              <a:spcBef>
                <a:spcPts val="0"/>
              </a:spcBef>
              <a:spcAft>
                <a:spcPts val="0"/>
              </a:spcAft>
              <a:buClr>
                <a:schemeClr val="accent5"/>
              </a:buClr>
              <a:buSzPts val="2400"/>
              <a:buChar char="●"/>
            </a:pPr>
            <a:r>
              <a:rPr lang="en" sz="2400">
                <a:solidFill>
                  <a:schemeClr val="accent5"/>
                </a:solidFill>
              </a:rPr>
              <a:t>S</a:t>
            </a:r>
            <a:r>
              <a:rPr lang="en" sz="2400">
                <a:solidFill>
                  <a:schemeClr val="accent5"/>
                </a:solidFill>
              </a:rPr>
              <a:t>ubmit the survey</a:t>
            </a:r>
            <a:br>
              <a:rPr lang="en" sz="2400">
                <a:solidFill>
                  <a:schemeClr val="accent5"/>
                </a:solidFill>
              </a:rPr>
            </a:br>
            <a:endParaRPr sz="2400">
              <a:solidFill>
                <a:schemeClr val="accent5"/>
              </a:solidFill>
            </a:endParaRPr>
          </a:p>
          <a:p>
            <a:pPr indent="-381000" lvl="0" marL="457200" rtl="0" algn="l">
              <a:spcBef>
                <a:spcPts val="0"/>
              </a:spcBef>
              <a:spcAft>
                <a:spcPts val="0"/>
              </a:spcAft>
              <a:buClr>
                <a:schemeClr val="accent5"/>
              </a:buClr>
              <a:buSzPts val="2400"/>
              <a:buChar char="●"/>
            </a:pPr>
            <a:r>
              <a:rPr lang="en" sz="2400">
                <a:solidFill>
                  <a:schemeClr val="accent5"/>
                </a:solidFill>
              </a:rPr>
              <a:t>Submit Notebook to D2L</a:t>
            </a:r>
            <a:br>
              <a:rPr lang="en" sz="2400">
                <a:solidFill>
                  <a:schemeClr val="accent5"/>
                </a:solidFill>
              </a:rPr>
            </a:br>
            <a:endParaRPr sz="2400">
              <a:solidFill>
                <a:schemeClr val="accent5"/>
              </a:solidFill>
            </a:endParaRPr>
          </a:p>
          <a:p>
            <a:pPr indent="-381000" lvl="0" marL="457200" rtl="0" algn="l">
              <a:spcBef>
                <a:spcPts val="0"/>
              </a:spcBef>
              <a:spcAft>
                <a:spcPts val="0"/>
              </a:spcAft>
              <a:buClr>
                <a:schemeClr val="accent5"/>
              </a:buClr>
              <a:buSzPts val="2400"/>
              <a:buChar char="●"/>
            </a:pPr>
            <a:r>
              <a:rPr lang="en" sz="2400">
                <a:solidFill>
                  <a:schemeClr val="accent5"/>
                </a:solidFill>
              </a:rPr>
              <a:t>Day 02 Pre-Class Due Tomorrow at 5PM</a:t>
            </a:r>
            <a:endParaRPr sz="2400">
              <a:solidFill>
                <a:schemeClr val="accent5"/>
              </a:solidFill>
            </a:endParaRPr>
          </a:p>
        </p:txBody>
      </p:sp>
      <p:sp>
        <p:nvSpPr>
          <p:cNvPr id="258" name="Google Shape;258;p3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